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embeddedFontLst>
    <p:embeddedFont>
      <p:font typeface="Comfortaa"/>
      <p:regular r:id="rId21"/>
      <p:bold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font" Target="fonts/Comfortaa-bold.fntdata"/><Relationship Id="rId10" Type="http://schemas.openxmlformats.org/officeDocument/2006/relationships/slide" Target="slides/slide5.xml"/><Relationship Id="rId21" Type="http://schemas.openxmlformats.org/officeDocument/2006/relationships/font" Target="fonts/Comfortaa-regular.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tinyurl.com/OMISTvideo1" TargetMode="External"/><Relationship Id="rId3" Type="http://schemas.openxmlformats.org/officeDocument/2006/relationships/hyperlink" Target="https://tinyurl.com/OMISTvideo1"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tinyurl.com/OMISTvideo2" TargetMode="External"/><Relationship Id="rId3" Type="http://schemas.openxmlformats.org/officeDocument/2006/relationships/hyperlink" Target="https://tinyurl.com/OMISTvideo2"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tinyurl.com/OMISTvideo3" TargetMode="External"/><Relationship Id="rId3" Type="http://schemas.openxmlformats.org/officeDocument/2006/relationships/hyperlink" Target="https://tinyurl.com/OMISTvideo3"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algoscript.info/CoursL1/Cours1/"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Bonjour et bienvenue à tous pour cette courte présentation de l’outil de traduction développé à l’UFR Sciences et Techniques.</a:t>
            </a:r>
            <a:endParaRPr/>
          </a:p>
          <a:p>
            <a:pPr indent="0" lvl="0" marL="0" rtl="0" algn="l">
              <a:spcBef>
                <a:spcPts val="0"/>
              </a:spcBef>
              <a:spcAft>
                <a:spcPts val="0"/>
              </a:spcAft>
              <a:buNone/>
            </a:pPr>
            <a:r>
              <a:rPr lang="en"/>
              <a:t>Mon but est de vous en présenter les principes généraux et de vous en faire une petite démonstration.</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bba2d4b9e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bba2d4b9e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Voici les principaux objectifs de l’outil.</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rPr lang="en"/>
              <a:t>Il y avait clairement un besoin exprimé pour mettre en place une solution qui permet, à moindre coût pour les enseignants, d’ouvrir les cours aux étudiants internationaux, non francophones.</a:t>
            </a:r>
            <a:endParaRPr/>
          </a:p>
          <a:p>
            <a:pPr indent="0" lvl="0" marL="0" rtl="0" algn="l">
              <a:spcBef>
                <a:spcPts val="0"/>
              </a:spcBef>
              <a:spcAft>
                <a:spcPts val="0"/>
              </a:spcAft>
              <a:buNone/>
            </a:pPr>
            <a:r>
              <a:rPr lang="en"/>
              <a:t>Le besoin concerne les cours en présentiel mais il est facile d’imaginer comment étendre la solution que nous proposons à des situations de cours à distance ou hybrides.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
              <a:t>La solution se base sur trois choses.</a:t>
            </a:r>
            <a:endParaRPr/>
          </a:p>
          <a:p>
            <a:pPr indent="0" lvl="0" marL="0" rtl="0" algn="l">
              <a:spcBef>
                <a:spcPts val="0"/>
              </a:spcBef>
              <a:spcAft>
                <a:spcPts val="0"/>
              </a:spcAft>
              <a:buNone/>
            </a:pPr>
            <a:r>
              <a:rPr lang="en"/>
              <a:t>La parole de l’enseignant est tout d’abord transcrite en texte en utilisant les outils de transcription de la parole intégrées dans le navigateur Google Chrome.</a:t>
            </a:r>
            <a:endParaRPr/>
          </a:p>
          <a:p>
            <a:pPr indent="0" lvl="0" marL="0" rtl="0" algn="l">
              <a:spcBef>
                <a:spcPts val="0"/>
              </a:spcBef>
              <a:spcAft>
                <a:spcPts val="0"/>
              </a:spcAft>
              <a:buNone/>
            </a:pPr>
            <a:r>
              <a:rPr lang="en"/>
              <a:t>Puis, ces textes sont transmis à une solution de traduction en ligne, cela peut être Google Translate qui permet de traduire dans une centaine de langues ou DeepL translate qui fournit une traduction de meilleure qualité mais dans un nombre plus restreint de langues.</a:t>
            </a:r>
            <a:endParaRPr/>
          </a:p>
          <a:p>
            <a:pPr indent="0" lvl="0" marL="0" rtl="0" algn="l">
              <a:spcBef>
                <a:spcPts val="0"/>
              </a:spcBef>
              <a:spcAft>
                <a:spcPts val="0"/>
              </a:spcAft>
              <a:buNone/>
            </a:pPr>
            <a:r>
              <a:rPr lang="en"/>
              <a:t>Enfin, les dispositifs de synthèse vocale intégrés aux navigateurs web permettent de transcrire le discours par oral, dans la langue de l’auditeur.</a:t>
            </a:r>
            <a:endParaRPr/>
          </a:p>
          <a:p>
            <a:pPr indent="0" lvl="0" marL="0" rtl="0" algn="l">
              <a:spcBef>
                <a:spcPts val="0"/>
              </a:spcBef>
              <a:spcAft>
                <a:spcPts val="0"/>
              </a:spcAft>
              <a:buClr>
                <a:schemeClr val="dk1"/>
              </a:buClr>
              <a:buSzPts val="1100"/>
              <a:buFont typeface="Arial"/>
              <a:buNone/>
            </a:pPr>
            <a:r>
              <a:rPr lang="en"/>
              <a:t>[pause]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Tout ceci se concrétise par deux applications web clientes (une application pour les enseignants et une application pour les étudiants) et une application serveur qui est chargée d’orchestrer tout le dispositif.</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bba2d4b9eb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bba2d4b9eb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Voici le schéma de principe de l’outil.</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On retrouve les deux applications principales, une pour l’enseignant et une autre pour les étudiantes ou les étudiants.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Un serveur web orchestre le dialogue entre ces applications et il gère le dialogue avec les outils de traduction en ligne.</a:t>
            </a:r>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bbaa9bb420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bbaa9bb420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Intéressons nous maintenant au coût d’un tel dispositif.</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Ce coût peut facilement se décomposer en quatre parties dont une partie correspond à des coûts fixes d’équipement et l’autre partie correspond à des coûts variables liés principalement à des abonnements.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La grosse partie correspond à des coûts fixes de matériels informatiques.</a:t>
            </a:r>
            <a:endParaRPr/>
          </a:p>
          <a:p>
            <a:pPr indent="0" lvl="0" marL="0" rtl="0" algn="l">
              <a:spcBef>
                <a:spcPts val="0"/>
              </a:spcBef>
              <a:spcAft>
                <a:spcPts val="0"/>
              </a:spcAft>
              <a:buNone/>
            </a:pPr>
            <a:r>
              <a:rPr lang="en"/>
              <a:t>En effet, il faut que chaque étudiant qui cherche à suivre le cours dispose d’un équipement individuel. </a:t>
            </a:r>
            <a:endParaRPr/>
          </a:p>
          <a:p>
            <a:pPr indent="0" lvl="0" marL="0" rtl="0" algn="l">
              <a:spcBef>
                <a:spcPts val="0"/>
              </a:spcBef>
              <a:spcAft>
                <a:spcPts val="0"/>
              </a:spcAft>
              <a:buNone/>
            </a:pPr>
            <a:r>
              <a:rPr lang="en"/>
              <a:t>Cela peut-être une tablette prêtée le temps de la séance de cours par l’établissement. </a:t>
            </a:r>
            <a:endParaRPr/>
          </a:p>
          <a:p>
            <a:pPr indent="0" lvl="0" marL="0" rtl="0" algn="l">
              <a:spcBef>
                <a:spcPts val="0"/>
              </a:spcBef>
              <a:spcAft>
                <a:spcPts val="0"/>
              </a:spcAft>
              <a:buNone/>
            </a:pPr>
            <a:r>
              <a:rPr lang="en"/>
              <a:t>Entre plusieurs séances, il faut évidemment envisager un système de stockage et de chargement de ce matériel.</a:t>
            </a:r>
            <a:endParaRPr/>
          </a:p>
          <a:p>
            <a:pPr indent="0" lvl="0" marL="0" rtl="0" algn="l">
              <a:spcBef>
                <a:spcPts val="0"/>
              </a:spcBef>
              <a:spcAft>
                <a:spcPts val="0"/>
              </a:spcAft>
              <a:buNone/>
            </a:pPr>
            <a:r>
              <a:rPr lang="en"/>
              <a:t>Il faut compter environ 10000 euros pour un tel équipement dont environ 2000 euros pour une valise de transport permettant la recharge et la synchronisation et 8000 euros environ pour 16 tablettes de qualité convenable.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L’enseignant doit aussi disposer d’un ordinateur pour la diffusion du cours.</a:t>
            </a:r>
            <a:endParaRPr/>
          </a:p>
          <a:p>
            <a:pPr indent="0" lvl="0" marL="0" rtl="0" algn="l">
              <a:spcBef>
                <a:spcPts val="0"/>
              </a:spcBef>
              <a:spcAft>
                <a:spcPts val="0"/>
              </a:spcAft>
              <a:buNone/>
            </a:pPr>
            <a:r>
              <a:rPr lang="en"/>
              <a:t>Mis à part la nécessité de disposer du navigateur Google Chrome, disponible gratuitement sur tous les systèmes d’exploitation, aucun logiciel ou équipement particulier n’est nécessaire.</a:t>
            </a:r>
            <a:endParaRPr/>
          </a:p>
          <a:p>
            <a:pPr indent="0" lvl="0" marL="0" rtl="0" algn="l">
              <a:spcBef>
                <a:spcPts val="0"/>
              </a:spcBef>
              <a:spcAft>
                <a:spcPts val="0"/>
              </a:spcAft>
              <a:buNone/>
            </a:pPr>
            <a:r>
              <a:rPr lang="en"/>
              <a:t>L’ordinateur personnel de l’enseignant peut donc être utilisé.</a:t>
            </a:r>
            <a:endParaRPr/>
          </a:p>
          <a:p>
            <a:pPr indent="0" lvl="0" marL="0" rtl="0" algn="l">
              <a:spcBef>
                <a:spcPts val="0"/>
              </a:spcBef>
              <a:spcAft>
                <a:spcPts val="0"/>
              </a:spcAft>
              <a:buNone/>
            </a:pPr>
            <a:r>
              <a:rPr lang="en"/>
              <a:t>Il est cependant raisonnable d’envisager un ordinateur de prêt convenablement configuré qui pourrait être stocké avec les tablettes.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Les autres postes de coût concernent d’une part l’abonnement indispensable à un service de traduction, qui dispose d’une API pour un accès en ligne.</a:t>
            </a:r>
            <a:endParaRPr/>
          </a:p>
          <a:p>
            <a:pPr indent="0" lvl="0" marL="0" rtl="0" algn="l">
              <a:spcBef>
                <a:spcPts val="0"/>
              </a:spcBef>
              <a:spcAft>
                <a:spcPts val="0"/>
              </a:spcAft>
              <a:buNone/>
            </a:pPr>
            <a:r>
              <a:rPr lang="en"/>
              <a:t>Deux services se dégagent.</a:t>
            </a:r>
            <a:endParaRPr/>
          </a:p>
          <a:p>
            <a:pPr indent="0" lvl="0" marL="0" rtl="0" algn="l">
              <a:spcBef>
                <a:spcPts val="0"/>
              </a:spcBef>
              <a:spcAft>
                <a:spcPts val="0"/>
              </a:spcAft>
              <a:buNone/>
            </a:pPr>
            <a:r>
              <a:rPr lang="en"/>
              <a:t>Google Translate a comme intérêt de permettre la traduction dans plus d’une centaine de langues pour un coût d’abonnement minime (calculé au caractère traduit).</a:t>
            </a:r>
            <a:endParaRPr/>
          </a:p>
          <a:p>
            <a:pPr indent="0" lvl="0" marL="0" rtl="0" algn="l">
              <a:spcBef>
                <a:spcPts val="0"/>
              </a:spcBef>
              <a:spcAft>
                <a:spcPts val="0"/>
              </a:spcAft>
              <a:buNone/>
            </a:pPr>
            <a:r>
              <a:rPr lang="en"/>
              <a:t>DeepL Translate a comme intérêt de produire une traduction de très bonne qualité mais dans un nombre de langues limité et pour un coût légèrement supérieur à Google Translate.</a:t>
            </a:r>
            <a:endParaRPr/>
          </a:p>
          <a:p>
            <a:pPr indent="0" lvl="0" marL="0" rtl="0" algn="l">
              <a:spcBef>
                <a:spcPts val="0"/>
              </a:spcBef>
              <a:spcAft>
                <a:spcPts val="0"/>
              </a:spcAft>
              <a:buNone/>
            </a:pPr>
            <a:r>
              <a:rPr lang="en"/>
              <a:t>Pour une utilisation relativement intensive estimée à l’échelle de l’Université de Nantes (estimation de l’équivalent en traduction d’un ouvrage de 1000 pages par mois), il faut compter environ 400 euros par an pour l’abonnement à ces deux services. </a:t>
            </a:r>
            <a:endParaRPr/>
          </a:p>
          <a:p>
            <a:pPr indent="0" lvl="0" marL="0" rtl="0" algn="l">
              <a:spcBef>
                <a:spcPts val="0"/>
              </a:spcBef>
              <a:spcAft>
                <a:spcPts val="0"/>
              </a:spcAft>
              <a:buNone/>
            </a:pPr>
            <a:r>
              <a:rPr lang="en"/>
              <a:t>Enfin, le dernier poste de dépense concerne l’hébergement du site web qui regroupe toutes les applications. Il est raisonnable d’envisager un hébergement sur une machine virtuelle fournie par la DSIN, et donc un coût nul.</a:t>
            </a:r>
            <a:endParaRPr/>
          </a:p>
          <a:p>
            <a:pPr indent="0" lvl="0" marL="0" rtl="0" algn="l">
              <a:spcBef>
                <a:spcPts val="0"/>
              </a:spcBef>
              <a:spcAft>
                <a:spcPts val="0"/>
              </a:spcAft>
              <a:buNone/>
            </a:pPr>
            <a:r>
              <a:rPr lang="en"/>
              <a:t>Si non, un hébergeur externe facture ce service environ 100 euros par an, nom de domaine compris.</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bba2d4b9eb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bba2d4b9eb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Voici un petit récapitulatif des équipements nécessaires.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La seule chose nouvelle concerne la possibilité de développement d’un mode à bas coût, avec comme objectif de réduire le coût des dispositifs mis à disposition des étudiants.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bba2d4b9eb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bba2d4b9eb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Ce mode à bas coût peut co-exister avec le dispositif normal qui permet une diffusion en direct ou en différé du cours, et un choix de la langue d’écoute individuel.</a:t>
            </a:r>
            <a:endParaRPr/>
          </a:p>
          <a:p>
            <a:pPr indent="0" lvl="0" marL="0" rtl="0" algn="l">
              <a:spcBef>
                <a:spcPts val="0"/>
              </a:spcBef>
              <a:spcAft>
                <a:spcPts val="0"/>
              </a:spcAft>
              <a:buNone/>
            </a:pPr>
            <a:r>
              <a:rPr lang="en"/>
              <a:t>Le mode à bas coût se caractérise par l’ajout, sur l’ordinateur de l’enseignant d’un dispositif usb qui diffuse sur la bande FM le discours, traduit dans une langue choisie par l’enseignant. Ce type de dispositif ne permet qu’une diffusion en direct du cours et dans une zone géographiquement proche de l’enseignant (quelques dizaines de mètres au maximum de l’émetteur).</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bbaa9bb420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bbaa9bb420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Ce mode est à bas coût car dans ce cas, on peut imaginer que les tablettes utilisées par les étudiants leur appartiennent.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Il serait alors possible de fournir aux étudiants une simple radio FM pour suivre le cours.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Dans ce mode, il ne reste donc que l’abonnement aux services de traduction, l’achat de quelques radios FM qui coûtent chacunes entre 5 et 15 euros et la fabrication d’un dispositif émetteur.</a:t>
            </a:r>
            <a:endParaRPr/>
          </a:p>
          <a:p>
            <a:pPr indent="0" lvl="0" marL="0" rtl="0" algn="l">
              <a:spcBef>
                <a:spcPts val="0"/>
              </a:spcBef>
              <a:spcAft>
                <a:spcPts val="0"/>
              </a:spcAft>
              <a:buNone/>
            </a:pPr>
            <a:r>
              <a:rPr lang="en"/>
              <a:t>Pour ce dernier, un prototype totalement fonctionnel a été réalisé. Le coût de fabrication est de l’ordre de 15 euros.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bba2d4b9eb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bba2d4b9eb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Voici une vidéo qui présente une utilisation standard de l’outil.</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solidFill>
                  <a:schemeClr val="dk1"/>
                </a:solidFill>
              </a:rPr>
              <a:t>[resource Video|</a:t>
            </a:r>
            <a:r>
              <a:rPr lang="en" u="sng">
                <a:solidFill>
                  <a:srgbClr val="0097A7"/>
                </a:solidFill>
                <a:hlinkClick r:id="rId2">
                  <a:extLst>
                    <a:ext uri="{A12FA001-AC4F-418D-AE19-62706E023703}">
                      <ahyp:hlinkClr val="tx"/>
                    </a:ext>
                  </a:extLst>
                </a:hlinkClick>
              </a:rPr>
              <a:t>https://tinyurl.com/OMISTvideo1</a:t>
            </a:r>
            <a:r>
              <a:rPr lang="en">
                <a:solidFill>
                  <a:schemeClr val="dk1"/>
                </a:solidFill>
              </a:rPr>
              <a:t>]</a:t>
            </a:r>
            <a:endParaRPr>
              <a:solidFill>
                <a:schemeClr val="dk1"/>
              </a:solidFill>
            </a:endParaRPr>
          </a:p>
          <a:p>
            <a:pPr indent="0" lvl="0" marL="0" rtl="0" algn="l">
              <a:spcBef>
                <a:spcPts val="0"/>
              </a:spcBef>
              <a:spcAft>
                <a:spcPts val="0"/>
              </a:spcAft>
              <a:buNone/>
            </a:pPr>
            <a:r>
              <a:rPr lang="en"/>
              <a:t>Elle est accessible à cette adresse : </a:t>
            </a:r>
            <a:r>
              <a:rPr lang="en" u="sng">
                <a:solidFill>
                  <a:schemeClr val="hlink"/>
                </a:solidFill>
                <a:hlinkClick r:id="rId3"/>
              </a:rPr>
              <a:t>https://tinyurl.com/OMISTvideo1</a:t>
            </a:r>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baf396897a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baf396897a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Voici une vidéo qui montre comment utiliser l’outil avec un discours préparé à l’avance. C’est le mode d’utilisation à privilégier.</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[resource Video|</a:t>
            </a:r>
            <a:r>
              <a:rPr lang="en" u="sng">
                <a:solidFill>
                  <a:srgbClr val="0097A7"/>
                </a:solidFill>
                <a:hlinkClick r:id="rId2">
                  <a:extLst>
                    <a:ext uri="{A12FA001-AC4F-418D-AE19-62706E023703}">
                      <ahyp:hlinkClr val="tx"/>
                    </a:ext>
                  </a:extLst>
                </a:hlinkClick>
              </a:rPr>
              <a:t>https://tinyurl.com/OMISTvideo2</a:t>
            </a:r>
            <a:r>
              <a:rPr lang="en">
                <a:solidFill>
                  <a:schemeClr val="dk1"/>
                </a:solidFill>
              </a:rPr>
              <a:t>]</a:t>
            </a:r>
            <a:endParaRPr>
              <a:solidFill>
                <a:schemeClr val="dk1"/>
              </a:solidFill>
            </a:endParaRPr>
          </a:p>
          <a:p>
            <a:pPr indent="0" lvl="0" marL="0" rtl="0" algn="l">
              <a:spcBef>
                <a:spcPts val="0"/>
              </a:spcBef>
              <a:spcAft>
                <a:spcPts val="0"/>
              </a:spcAft>
              <a:buNone/>
            </a:pPr>
            <a:r>
              <a:rPr lang="en">
                <a:solidFill>
                  <a:schemeClr val="dk1"/>
                </a:solidFill>
              </a:rPr>
              <a:t>Elle est accessible à cette adresse :</a:t>
            </a:r>
            <a:r>
              <a:rPr lang="en"/>
              <a:t> </a:t>
            </a:r>
            <a:r>
              <a:rPr lang="en" u="sng">
                <a:solidFill>
                  <a:schemeClr val="hlink"/>
                </a:solidFill>
                <a:hlinkClick r:id="rId3"/>
              </a:rPr>
              <a:t>https://tinyurl.com/OMISTvideo2</a:t>
            </a:r>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baf396897a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baf396897a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Voici une vidéo qui fait une démonstration de la fonctionnalité visioconférence intégrée à l’outil.</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
                <a:solidFill>
                  <a:schemeClr val="dk1"/>
                </a:solidFill>
              </a:rPr>
              <a:t>[resource Video|</a:t>
            </a:r>
            <a:r>
              <a:rPr lang="en" u="sng">
                <a:solidFill>
                  <a:srgbClr val="0097A7"/>
                </a:solidFill>
                <a:hlinkClick r:id="rId2">
                  <a:extLst>
                    <a:ext uri="{A12FA001-AC4F-418D-AE19-62706E023703}">
                      <ahyp:hlinkClr val="tx"/>
                    </a:ext>
                  </a:extLst>
                </a:hlinkClick>
              </a:rPr>
              <a:t>https://tinyurl.com/OMISTvideo3</a:t>
            </a:r>
            <a:r>
              <a:rPr lang="en">
                <a:solidFill>
                  <a:schemeClr val="dk1"/>
                </a:solidFill>
              </a:rPr>
              <a:t>]</a:t>
            </a:r>
            <a:endParaRPr>
              <a:solidFill>
                <a:schemeClr val="dk1"/>
              </a:solidFill>
            </a:endParaRPr>
          </a:p>
          <a:p>
            <a:pPr indent="0" lvl="0" marL="0" rtl="0" algn="l">
              <a:spcBef>
                <a:spcPts val="0"/>
              </a:spcBef>
              <a:spcAft>
                <a:spcPts val="0"/>
              </a:spcAft>
              <a:buNone/>
            </a:pPr>
            <a:r>
              <a:rPr lang="en">
                <a:solidFill>
                  <a:schemeClr val="dk1"/>
                </a:solidFill>
              </a:rPr>
              <a:t>Elle est accessible à cette adresse : </a:t>
            </a:r>
            <a:r>
              <a:rPr lang="en" u="sng">
                <a:solidFill>
                  <a:schemeClr val="hlink"/>
                </a:solidFill>
                <a:hlinkClick r:id="rId3"/>
              </a:rPr>
              <a:t>https://tinyurl.com/OMISTvideo3</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bbaa9bb420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bbaa9bb420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Pour finir, une nouvelle fonctionnalité a été ajoutée à l’outil récemment.</a:t>
            </a:r>
            <a:endParaRPr/>
          </a:p>
          <a:p>
            <a:pPr indent="0" lvl="0" marL="0" rtl="0" algn="l">
              <a:spcBef>
                <a:spcPts val="0"/>
              </a:spcBef>
              <a:spcAft>
                <a:spcPts val="0"/>
              </a:spcAft>
              <a:buNone/>
            </a:pPr>
            <a:r>
              <a:rPr lang="en"/>
              <a:t>Cette fonctionnalité permet de créer une animation multilingue, accessible en ligne, qui regroupe et synchronise une présentation powerpoint et le discours associé.</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Un exemple est accessible à cette adresse : </a:t>
            </a:r>
            <a:r>
              <a:rPr lang="en" u="sng">
                <a:solidFill>
                  <a:schemeClr val="hlink"/>
                </a:solidFill>
                <a:hlinkClick r:id="rId2"/>
              </a:rPr>
              <a:t>https://algoscript.info/CoursL1/Traduction/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Ces animations ont trois intérêts par rapport aux vidéos. </a:t>
            </a:r>
            <a:endParaRPr/>
          </a:p>
          <a:p>
            <a:pPr indent="0" lvl="0" marL="0" rtl="0" algn="l">
              <a:spcBef>
                <a:spcPts val="0"/>
              </a:spcBef>
              <a:spcAft>
                <a:spcPts val="0"/>
              </a:spcAft>
              <a:buNone/>
            </a:pPr>
            <a:r>
              <a:rPr lang="en"/>
              <a:t>Premièrement, elles sont produites très simplement et de manière semi-automatique ce qui évite tous les temps de captation et de montage nécessaires à la production de vidéos. </a:t>
            </a:r>
            <a:endParaRPr/>
          </a:p>
          <a:p>
            <a:pPr indent="0" lvl="0" marL="0" rtl="0" algn="l">
              <a:spcBef>
                <a:spcPts val="0"/>
              </a:spcBef>
              <a:spcAft>
                <a:spcPts val="0"/>
              </a:spcAft>
              <a:buNone/>
            </a:pPr>
            <a:r>
              <a:rPr lang="en"/>
              <a:t>Deuxièmement, elles sont nativement multilingues. </a:t>
            </a:r>
            <a:endParaRPr/>
          </a:p>
          <a:p>
            <a:pPr indent="0" lvl="0" marL="0" rtl="0" algn="l">
              <a:spcBef>
                <a:spcPts val="0"/>
              </a:spcBef>
              <a:spcAft>
                <a:spcPts val="0"/>
              </a:spcAft>
              <a:buNone/>
            </a:pPr>
            <a:r>
              <a:rPr lang="en"/>
              <a:t>Enfin, le poids d’une animation, environ 10 méga octets pour une heure d’animation, et très inférieur à celui d’une heure de vidéo (environ 1 giga octet soit 100 fois plus). </a:t>
            </a:r>
            <a:endParaRPr/>
          </a:p>
          <a:p>
            <a:pPr indent="0" lvl="0" marL="0" rtl="0" algn="l">
              <a:spcBef>
                <a:spcPts val="0"/>
              </a:spcBef>
              <a:spcAft>
                <a:spcPts val="0"/>
              </a:spcAft>
              <a:buNone/>
            </a:pPr>
            <a:r>
              <a:rPr lang="en"/>
              <a:t>Il est donc envisageable de diffuser ces animations à des endroits où les débits sont très faibles.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noter que des développements sont en cours pour généraliser ce principe de diffusion au mode “direct” pour éviter les visioconférences gourmandes en bande passante.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b676c8e3c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b676c8e3c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En outre</a:t>
            </a:r>
            <a:r>
              <a:rPr lang="en"/>
              <a:t>, un dernier outil a été créé.</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Il permet de traduire automatiquement les supports de cours.</a:t>
            </a:r>
            <a:endParaRPr/>
          </a:p>
          <a:p>
            <a:pPr indent="0" lvl="0" marL="0" rtl="0" algn="l">
              <a:spcBef>
                <a:spcPts val="0"/>
              </a:spcBef>
              <a:spcAft>
                <a:spcPts val="0"/>
              </a:spcAft>
              <a:buNone/>
            </a:pPr>
            <a:r>
              <a:rPr lang="en"/>
              <a:t>Cela s’applique pour le moment uniquement aux présentations au format powerpoint.</a:t>
            </a:r>
            <a:endParaRPr/>
          </a:p>
          <a:p>
            <a:pPr indent="0" lvl="0" marL="0" rtl="0" algn="l">
              <a:spcBef>
                <a:spcPts val="0"/>
              </a:spcBef>
              <a:spcAft>
                <a:spcPts val="0"/>
              </a:spcAft>
              <a:buNone/>
            </a:pPr>
            <a:r>
              <a:rPr lang="en"/>
              <a:t>Tous les textes ou notes sont traduites dans une langue cible. Le résultat est une nouvelle présentation powerpoint traduite.</a:t>
            </a:r>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de8fb9f2d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de8fb9f2d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Pour terminer, voici une capture d’écran de l’outil de création des animations.</a:t>
            </a:r>
            <a:endParaRPr/>
          </a:p>
          <a:p>
            <a:pPr indent="0" lvl="0" marL="0" rtl="0" algn="l">
              <a:spcBef>
                <a:spcPts val="0"/>
              </a:spcBef>
              <a:spcAft>
                <a:spcPts val="0"/>
              </a:spcAft>
              <a:buNone/>
            </a:pPr>
            <a:r>
              <a:rPr lang="en"/>
              <a:t>Cet outil ne tourne que sous Mac OS X.</a:t>
            </a:r>
            <a:endParaRPr/>
          </a:p>
          <a:p>
            <a:pPr indent="0" lvl="0" marL="0" rtl="0" algn="l">
              <a:spcBef>
                <a:spcPts val="0"/>
              </a:spcBef>
              <a:spcAft>
                <a:spcPts val="0"/>
              </a:spcAft>
              <a:buNone/>
            </a:pPr>
            <a:r>
              <a:rPr lang="en"/>
              <a:t>Il n’est pas prévu de le diffuser largement pour le moment. </a:t>
            </a:r>
            <a:endParaRPr/>
          </a:p>
          <a:p>
            <a:pPr indent="0" lvl="0" marL="0" rtl="0" algn="l">
              <a:spcBef>
                <a:spcPts val="0"/>
              </a:spcBef>
              <a:spcAft>
                <a:spcPts val="0"/>
              </a:spcAft>
              <a:buNone/>
            </a:pPr>
            <a:r>
              <a:rPr lang="en"/>
              <a:t>Par contre, on peut imaginer un service qui pourra être offert aux enseignants qui le demandent.</a:t>
            </a:r>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de8fb9f2dc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de8fb9f2dc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a:t>
            </a:r>
            <a:r>
              <a:rPr lang="en"/>
              <a:t>oici une capture d’écran de l’outil de traduction des slides.</a:t>
            </a:r>
            <a:endParaRPr/>
          </a:p>
          <a:p>
            <a:pPr indent="0" lvl="0" marL="0" rtl="0" algn="l">
              <a:spcBef>
                <a:spcPts val="0"/>
              </a:spcBef>
              <a:spcAft>
                <a:spcPts val="0"/>
              </a:spcAft>
              <a:buNone/>
            </a:pPr>
            <a:r>
              <a:rPr lang="en"/>
              <a:t>Contrairement à l’outil précédent, cet outil peut tourner sur d’autres environnements que Mac OS X.</a:t>
            </a:r>
            <a:endParaRPr/>
          </a:p>
          <a:p>
            <a:pPr indent="0" lvl="0" marL="0" rtl="0" algn="l">
              <a:spcBef>
                <a:spcPts val="0"/>
              </a:spcBef>
              <a:spcAft>
                <a:spcPts val="0"/>
              </a:spcAft>
              <a:buNone/>
            </a:pPr>
            <a:r>
              <a:rPr lang="en"/>
              <a:t>Il n’est pas prévu de le diffuser largement pour le moment.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de8fb9f2dc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de8fb9f2dc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Ces deux outils sont intégrés à une boite à outil plus complète de manipulation des présentations.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Entre autres, cette boite à outils contient des outils pour construire une animation à partir d’un fichier PDF, éventuellement associé à un discours écrit dans un fichier texte, notamment pour les utilisateurs de LaTeX.</a:t>
            </a:r>
            <a:endParaRPr/>
          </a:p>
          <a:p>
            <a:pPr indent="0" lvl="0" marL="0" rtl="0" algn="l">
              <a:spcBef>
                <a:spcPts val="0"/>
              </a:spcBef>
              <a:spcAft>
                <a:spcPts val="0"/>
              </a:spcAft>
              <a:buNone/>
            </a:pPr>
            <a:r>
              <a:rPr lang="en"/>
              <a:t>On retrouve aussi des outils de conversion et d’extraction.</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0.png"/><Relationship Id="rId4" Type="http://schemas.openxmlformats.org/officeDocument/2006/relationships/image" Target="../media/image8.png"/><Relationship Id="rId5" Type="http://schemas.openxmlformats.org/officeDocument/2006/relationships/image" Target="../media/image4.png"/><Relationship Id="rId6"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0.png"/><Relationship Id="rId4" Type="http://schemas.openxmlformats.org/officeDocument/2006/relationships/image" Target="../media/image8.png"/><Relationship Id="rId5" Type="http://schemas.openxmlformats.org/officeDocument/2006/relationships/image" Target="../media/image4.png"/><Relationship Id="rId6"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8.png"/><Relationship Id="rId5" Type="http://schemas.openxmlformats.org/officeDocument/2006/relationships/image" Target="../media/image4.png"/><Relationship Id="rId6" Type="http://schemas.openxmlformats.org/officeDocument/2006/relationships/image" Target="../media/image1.png"/><Relationship Id="rId7" Type="http://schemas.openxmlformats.org/officeDocument/2006/relationships/image" Target="../media/image3.png"/><Relationship Id="rId8"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0.png"/><Relationship Id="rId4" Type="http://schemas.openxmlformats.org/officeDocument/2006/relationships/image" Target="../media/image8.png"/><Relationship Id="rId5" Type="http://schemas.openxmlformats.org/officeDocument/2006/relationships/image" Target="../media/image4.png"/><Relationship Id="rId6" Type="http://schemas.openxmlformats.org/officeDocument/2006/relationships/image" Target="../media/image1.png"/><Relationship Id="rId7" Type="http://schemas.openxmlformats.org/officeDocument/2006/relationships/image" Target="../media/image3.png"/><Relationship Id="rId8"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drive.google.com/file/d/1wKQpwzLMYS1YI4MfJ2oIkrCVglNRxiU_/view" TargetMode="Externa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drive.google.com/file/d/1atLT5Lvlb7YqZrgBBBpFJAFwCvHY6txY/view" TargetMode="Externa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drive.google.com/file/d/1hkfI3M4NFkcIr1Utmmv28Yp3WjM5v3K-/view" TargetMode="Externa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9.png"/><Relationship Id="rId4" Type="http://schemas.openxmlformats.org/officeDocument/2006/relationships/image" Target="../media/image14.png"/><Relationship Id="rId5" Type="http://schemas.openxmlformats.org/officeDocument/2006/relationships/hyperlink" Target="https://algoscript.info/CoursL1/Cours1/"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7.png"/><Relationship Id="rId4" Type="http://schemas.openxmlformats.org/officeDocument/2006/relationships/image" Target="../media/image6.png"/><Relationship Id="rId5"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Traduction automatique des cours</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Principes généraux de fonctionnement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Objectifs</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Mise en place d’une solution de traduction automatique des enseignements en présentiel.</a:t>
            </a:r>
            <a:endParaRPr/>
          </a:p>
          <a:p>
            <a:pPr indent="0" lvl="0" marL="0" rtl="0" algn="l">
              <a:spcBef>
                <a:spcPts val="1200"/>
              </a:spcBef>
              <a:spcAft>
                <a:spcPts val="0"/>
              </a:spcAft>
              <a:buNone/>
            </a:pPr>
            <a:r>
              <a:rPr lang="en"/>
              <a:t>La solution se base sur les outils de transcription de la parole intégrées dans le navigateur Google Chrome, d’une solution de traduction en ligne (Google Translate ou DeepL translate (à venir)), et des dispositifs de synthèse vocale intégrés aux navigateurs web.</a:t>
            </a:r>
            <a:endParaRPr/>
          </a:p>
          <a:p>
            <a:pPr indent="0" lvl="0" marL="0" rtl="0" algn="l">
              <a:spcBef>
                <a:spcPts val="1200"/>
              </a:spcBef>
              <a:spcAft>
                <a:spcPts val="1200"/>
              </a:spcAft>
              <a:buNone/>
            </a:pPr>
            <a:r>
              <a:rPr lang="en"/>
              <a:t>Se concrétise par deux applications web clientes (enseignant et étudiants) et une application serveur chargée de la synchronisation entre les différents utilisateurs et orchestre les demandes de traduction vers les serveurs tiers.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pic>
        <p:nvPicPr>
          <p:cNvPr id="66" name="Google Shape;66;p15"/>
          <p:cNvPicPr preferRelativeResize="0"/>
          <p:nvPr/>
        </p:nvPicPr>
        <p:blipFill>
          <a:blip r:embed="rId3">
            <a:alphaModFix/>
          </a:blip>
          <a:stretch>
            <a:fillRect/>
          </a:stretch>
        </p:blipFill>
        <p:spPr>
          <a:xfrm>
            <a:off x="366625" y="3711126"/>
            <a:ext cx="3030023" cy="940951"/>
          </a:xfrm>
          <a:prstGeom prst="rect">
            <a:avLst/>
          </a:prstGeom>
          <a:noFill/>
          <a:ln cap="flat" cmpd="sng" w="9525">
            <a:solidFill>
              <a:schemeClr val="dk2"/>
            </a:solidFill>
            <a:prstDash val="solid"/>
            <a:round/>
            <a:headEnd len="sm" w="sm" type="none"/>
            <a:tailEnd len="sm" w="sm" type="none"/>
          </a:ln>
        </p:spPr>
      </p:pic>
      <p:pic>
        <p:nvPicPr>
          <p:cNvPr id="67" name="Google Shape;67;p15"/>
          <p:cNvPicPr preferRelativeResize="0"/>
          <p:nvPr/>
        </p:nvPicPr>
        <p:blipFill>
          <a:blip r:embed="rId4">
            <a:alphaModFix/>
          </a:blip>
          <a:stretch>
            <a:fillRect/>
          </a:stretch>
        </p:blipFill>
        <p:spPr>
          <a:xfrm>
            <a:off x="3749342" y="3711126"/>
            <a:ext cx="2581733" cy="940950"/>
          </a:xfrm>
          <a:prstGeom prst="rect">
            <a:avLst/>
          </a:prstGeom>
          <a:noFill/>
          <a:ln cap="flat" cmpd="sng" w="9525">
            <a:solidFill>
              <a:schemeClr val="dk2"/>
            </a:solidFill>
            <a:prstDash val="solid"/>
            <a:round/>
            <a:headEnd len="sm" w="sm" type="none"/>
            <a:tailEnd len="sm" w="sm" type="none"/>
          </a:ln>
        </p:spPr>
      </p:pic>
      <p:pic>
        <p:nvPicPr>
          <p:cNvPr id="68" name="Google Shape;68;p15"/>
          <p:cNvPicPr preferRelativeResize="0"/>
          <p:nvPr/>
        </p:nvPicPr>
        <p:blipFill>
          <a:blip r:embed="rId4">
            <a:alphaModFix/>
          </a:blip>
          <a:stretch>
            <a:fillRect/>
          </a:stretch>
        </p:blipFill>
        <p:spPr>
          <a:xfrm>
            <a:off x="4947692" y="3486126"/>
            <a:ext cx="2581733" cy="940950"/>
          </a:xfrm>
          <a:prstGeom prst="rect">
            <a:avLst/>
          </a:prstGeom>
          <a:noFill/>
          <a:ln cap="flat" cmpd="sng" w="9525">
            <a:solidFill>
              <a:schemeClr val="dk2"/>
            </a:solidFill>
            <a:prstDash val="solid"/>
            <a:round/>
            <a:headEnd len="sm" w="sm" type="none"/>
            <a:tailEnd len="sm" w="sm" type="none"/>
          </a:ln>
        </p:spPr>
      </p:pic>
      <p:pic>
        <p:nvPicPr>
          <p:cNvPr id="69" name="Google Shape;69;p15"/>
          <p:cNvPicPr preferRelativeResize="0"/>
          <p:nvPr/>
        </p:nvPicPr>
        <p:blipFill>
          <a:blip r:embed="rId4">
            <a:alphaModFix/>
          </a:blip>
          <a:stretch>
            <a:fillRect/>
          </a:stretch>
        </p:blipFill>
        <p:spPr>
          <a:xfrm>
            <a:off x="6250567" y="3778701"/>
            <a:ext cx="2581733" cy="940950"/>
          </a:xfrm>
          <a:prstGeom prst="rect">
            <a:avLst/>
          </a:prstGeom>
          <a:noFill/>
          <a:ln cap="flat" cmpd="sng" w="9525">
            <a:solidFill>
              <a:schemeClr val="dk2"/>
            </a:solidFill>
            <a:prstDash val="solid"/>
            <a:round/>
            <a:headEnd len="sm" w="sm" type="none"/>
            <a:tailEnd len="sm" w="sm" type="none"/>
          </a:ln>
        </p:spPr>
      </p:pic>
      <p:pic>
        <p:nvPicPr>
          <p:cNvPr id="70" name="Google Shape;70;p15"/>
          <p:cNvPicPr preferRelativeResize="0"/>
          <p:nvPr/>
        </p:nvPicPr>
        <p:blipFill>
          <a:blip r:embed="rId5">
            <a:alphaModFix/>
          </a:blip>
          <a:stretch>
            <a:fillRect/>
          </a:stretch>
        </p:blipFill>
        <p:spPr>
          <a:xfrm>
            <a:off x="4113677" y="1259450"/>
            <a:ext cx="1294475" cy="1527925"/>
          </a:xfrm>
          <a:prstGeom prst="rect">
            <a:avLst/>
          </a:prstGeom>
          <a:noFill/>
          <a:ln>
            <a:noFill/>
          </a:ln>
        </p:spPr>
      </p:pic>
      <p:cxnSp>
        <p:nvCxnSpPr>
          <p:cNvPr id="71" name="Google Shape;71;p15"/>
          <p:cNvCxnSpPr/>
          <p:nvPr/>
        </p:nvCxnSpPr>
        <p:spPr>
          <a:xfrm flipH="1" rot="10800000">
            <a:off x="2253650" y="2792800"/>
            <a:ext cx="1995000" cy="765600"/>
          </a:xfrm>
          <a:prstGeom prst="straightConnector1">
            <a:avLst/>
          </a:prstGeom>
          <a:noFill/>
          <a:ln cap="flat" cmpd="sng" w="28575">
            <a:solidFill>
              <a:schemeClr val="dk2"/>
            </a:solidFill>
            <a:prstDash val="solid"/>
            <a:round/>
            <a:headEnd len="med" w="med" type="none"/>
            <a:tailEnd len="med" w="med" type="none"/>
          </a:ln>
        </p:spPr>
      </p:cxnSp>
      <p:cxnSp>
        <p:nvCxnSpPr>
          <p:cNvPr id="72" name="Google Shape;72;p15"/>
          <p:cNvCxnSpPr/>
          <p:nvPr/>
        </p:nvCxnSpPr>
        <p:spPr>
          <a:xfrm rot="10800000">
            <a:off x="4485800" y="2889875"/>
            <a:ext cx="150900" cy="744000"/>
          </a:xfrm>
          <a:prstGeom prst="straightConnector1">
            <a:avLst/>
          </a:prstGeom>
          <a:noFill/>
          <a:ln cap="flat" cmpd="sng" w="28575">
            <a:solidFill>
              <a:schemeClr val="dk2"/>
            </a:solidFill>
            <a:prstDash val="solid"/>
            <a:round/>
            <a:headEnd len="med" w="med" type="none"/>
            <a:tailEnd len="med" w="med" type="none"/>
          </a:ln>
        </p:spPr>
      </p:cxnSp>
      <p:cxnSp>
        <p:nvCxnSpPr>
          <p:cNvPr id="73" name="Google Shape;73;p15"/>
          <p:cNvCxnSpPr/>
          <p:nvPr/>
        </p:nvCxnSpPr>
        <p:spPr>
          <a:xfrm>
            <a:off x="4981750" y="2857500"/>
            <a:ext cx="431400" cy="506700"/>
          </a:xfrm>
          <a:prstGeom prst="straightConnector1">
            <a:avLst/>
          </a:prstGeom>
          <a:noFill/>
          <a:ln cap="flat" cmpd="sng" w="28575">
            <a:solidFill>
              <a:schemeClr val="dk2"/>
            </a:solidFill>
            <a:prstDash val="solid"/>
            <a:round/>
            <a:headEnd len="med" w="med" type="none"/>
            <a:tailEnd len="med" w="med" type="none"/>
          </a:ln>
        </p:spPr>
      </p:cxnSp>
      <p:cxnSp>
        <p:nvCxnSpPr>
          <p:cNvPr id="74" name="Google Shape;74;p15"/>
          <p:cNvCxnSpPr/>
          <p:nvPr/>
        </p:nvCxnSpPr>
        <p:spPr>
          <a:xfrm>
            <a:off x="5413075" y="2857500"/>
            <a:ext cx="1779300" cy="787200"/>
          </a:xfrm>
          <a:prstGeom prst="straightConnector1">
            <a:avLst/>
          </a:prstGeom>
          <a:noFill/>
          <a:ln cap="flat" cmpd="sng" w="28575">
            <a:solidFill>
              <a:schemeClr val="dk2"/>
            </a:solidFill>
            <a:prstDash val="solid"/>
            <a:round/>
            <a:headEnd len="med" w="med" type="none"/>
            <a:tailEnd len="med" w="med" type="none"/>
          </a:ln>
        </p:spPr>
      </p:cxnSp>
      <p:pic>
        <p:nvPicPr>
          <p:cNvPr id="75" name="Google Shape;75;p15"/>
          <p:cNvPicPr preferRelativeResize="0"/>
          <p:nvPr/>
        </p:nvPicPr>
        <p:blipFill>
          <a:blip r:embed="rId6">
            <a:alphaModFix/>
          </a:blip>
          <a:stretch>
            <a:fillRect/>
          </a:stretch>
        </p:blipFill>
        <p:spPr>
          <a:xfrm>
            <a:off x="7348286" y="258775"/>
            <a:ext cx="1365388" cy="1527925"/>
          </a:xfrm>
          <a:prstGeom prst="rect">
            <a:avLst/>
          </a:prstGeom>
          <a:noFill/>
          <a:ln>
            <a:noFill/>
          </a:ln>
        </p:spPr>
      </p:pic>
      <p:cxnSp>
        <p:nvCxnSpPr>
          <p:cNvPr id="76" name="Google Shape;76;p15"/>
          <p:cNvCxnSpPr/>
          <p:nvPr/>
        </p:nvCxnSpPr>
        <p:spPr>
          <a:xfrm flipH="1" rot="10800000">
            <a:off x="5596375" y="1110550"/>
            <a:ext cx="1531200" cy="442200"/>
          </a:xfrm>
          <a:prstGeom prst="straightConnector1">
            <a:avLst/>
          </a:prstGeom>
          <a:noFill/>
          <a:ln cap="flat" cmpd="sng" w="38100">
            <a:solidFill>
              <a:schemeClr val="dk2"/>
            </a:solidFill>
            <a:prstDash val="solid"/>
            <a:round/>
            <a:headEnd len="med" w="med" type="stealth"/>
            <a:tailEnd len="med" w="med" type="stealth"/>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pic>
        <p:nvPicPr>
          <p:cNvPr id="81" name="Google Shape;81;p16"/>
          <p:cNvPicPr preferRelativeResize="0"/>
          <p:nvPr/>
        </p:nvPicPr>
        <p:blipFill>
          <a:blip r:embed="rId3">
            <a:alphaModFix/>
          </a:blip>
          <a:stretch>
            <a:fillRect/>
          </a:stretch>
        </p:blipFill>
        <p:spPr>
          <a:xfrm>
            <a:off x="366625" y="3711126"/>
            <a:ext cx="3030023" cy="940951"/>
          </a:xfrm>
          <a:prstGeom prst="rect">
            <a:avLst/>
          </a:prstGeom>
          <a:noFill/>
          <a:ln cap="flat" cmpd="sng" w="9525">
            <a:solidFill>
              <a:schemeClr val="dk2"/>
            </a:solidFill>
            <a:prstDash val="solid"/>
            <a:round/>
            <a:headEnd len="sm" w="sm" type="none"/>
            <a:tailEnd len="sm" w="sm" type="none"/>
          </a:ln>
        </p:spPr>
      </p:pic>
      <p:pic>
        <p:nvPicPr>
          <p:cNvPr id="82" name="Google Shape;82;p16"/>
          <p:cNvPicPr preferRelativeResize="0"/>
          <p:nvPr/>
        </p:nvPicPr>
        <p:blipFill>
          <a:blip r:embed="rId4">
            <a:alphaModFix/>
          </a:blip>
          <a:stretch>
            <a:fillRect/>
          </a:stretch>
        </p:blipFill>
        <p:spPr>
          <a:xfrm>
            <a:off x="3749342" y="3711126"/>
            <a:ext cx="2581733" cy="940950"/>
          </a:xfrm>
          <a:prstGeom prst="rect">
            <a:avLst/>
          </a:prstGeom>
          <a:noFill/>
          <a:ln cap="flat" cmpd="sng" w="9525">
            <a:solidFill>
              <a:schemeClr val="dk2"/>
            </a:solidFill>
            <a:prstDash val="solid"/>
            <a:round/>
            <a:headEnd len="sm" w="sm" type="none"/>
            <a:tailEnd len="sm" w="sm" type="none"/>
          </a:ln>
        </p:spPr>
      </p:pic>
      <p:pic>
        <p:nvPicPr>
          <p:cNvPr id="83" name="Google Shape;83;p16"/>
          <p:cNvPicPr preferRelativeResize="0"/>
          <p:nvPr/>
        </p:nvPicPr>
        <p:blipFill>
          <a:blip r:embed="rId4">
            <a:alphaModFix/>
          </a:blip>
          <a:stretch>
            <a:fillRect/>
          </a:stretch>
        </p:blipFill>
        <p:spPr>
          <a:xfrm>
            <a:off x="4947692" y="3486126"/>
            <a:ext cx="2581733" cy="940950"/>
          </a:xfrm>
          <a:prstGeom prst="rect">
            <a:avLst/>
          </a:prstGeom>
          <a:noFill/>
          <a:ln cap="flat" cmpd="sng" w="9525">
            <a:solidFill>
              <a:schemeClr val="dk2"/>
            </a:solidFill>
            <a:prstDash val="solid"/>
            <a:round/>
            <a:headEnd len="sm" w="sm" type="none"/>
            <a:tailEnd len="sm" w="sm" type="none"/>
          </a:ln>
        </p:spPr>
      </p:pic>
      <p:pic>
        <p:nvPicPr>
          <p:cNvPr id="84" name="Google Shape;84;p16"/>
          <p:cNvPicPr preferRelativeResize="0"/>
          <p:nvPr/>
        </p:nvPicPr>
        <p:blipFill>
          <a:blip r:embed="rId4">
            <a:alphaModFix/>
          </a:blip>
          <a:stretch>
            <a:fillRect/>
          </a:stretch>
        </p:blipFill>
        <p:spPr>
          <a:xfrm>
            <a:off x="6250567" y="3778701"/>
            <a:ext cx="2581733" cy="940950"/>
          </a:xfrm>
          <a:prstGeom prst="rect">
            <a:avLst/>
          </a:prstGeom>
          <a:noFill/>
          <a:ln cap="flat" cmpd="sng" w="9525">
            <a:solidFill>
              <a:schemeClr val="dk2"/>
            </a:solidFill>
            <a:prstDash val="solid"/>
            <a:round/>
            <a:headEnd len="sm" w="sm" type="none"/>
            <a:tailEnd len="sm" w="sm" type="none"/>
          </a:ln>
        </p:spPr>
      </p:pic>
      <p:pic>
        <p:nvPicPr>
          <p:cNvPr id="85" name="Google Shape;85;p16"/>
          <p:cNvPicPr preferRelativeResize="0"/>
          <p:nvPr/>
        </p:nvPicPr>
        <p:blipFill>
          <a:blip r:embed="rId5">
            <a:alphaModFix/>
          </a:blip>
          <a:stretch>
            <a:fillRect/>
          </a:stretch>
        </p:blipFill>
        <p:spPr>
          <a:xfrm>
            <a:off x="4113677" y="1259450"/>
            <a:ext cx="1294475" cy="1527925"/>
          </a:xfrm>
          <a:prstGeom prst="rect">
            <a:avLst/>
          </a:prstGeom>
          <a:noFill/>
          <a:ln>
            <a:noFill/>
          </a:ln>
        </p:spPr>
      </p:pic>
      <p:cxnSp>
        <p:nvCxnSpPr>
          <p:cNvPr id="86" name="Google Shape;86;p16"/>
          <p:cNvCxnSpPr/>
          <p:nvPr/>
        </p:nvCxnSpPr>
        <p:spPr>
          <a:xfrm flipH="1" rot="10800000">
            <a:off x="2253650" y="2792800"/>
            <a:ext cx="1995000" cy="765600"/>
          </a:xfrm>
          <a:prstGeom prst="straightConnector1">
            <a:avLst/>
          </a:prstGeom>
          <a:noFill/>
          <a:ln cap="flat" cmpd="sng" w="28575">
            <a:solidFill>
              <a:schemeClr val="dk2"/>
            </a:solidFill>
            <a:prstDash val="solid"/>
            <a:round/>
            <a:headEnd len="med" w="med" type="none"/>
            <a:tailEnd len="med" w="med" type="none"/>
          </a:ln>
        </p:spPr>
      </p:cxnSp>
      <p:cxnSp>
        <p:nvCxnSpPr>
          <p:cNvPr id="87" name="Google Shape;87;p16"/>
          <p:cNvCxnSpPr/>
          <p:nvPr/>
        </p:nvCxnSpPr>
        <p:spPr>
          <a:xfrm rot="10800000">
            <a:off x="4485800" y="2889875"/>
            <a:ext cx="150900" cy="744000"/>
          </a:xfrm>
          <a:prstGeom prst="straightConnector1">
            <a:avLst/>
          </a:prstGeom>
          <a:noFill/>
          <a:ln cap="flat" cmpd="sng" w="28575">
            <a:solidFill>
              <a:schemeClr val="dk2"/>
            </a:solidFill>
            <a:prstDash val="solid"/>
            <a:round/>
            <a:headEnd len="med" w="med" type="none"/>
            <a:tailEnd len="med" w="med" type="none"/>
          </a:ln>
        </p:spPr>
      </p:cxnSp>
      <p:cxnSp>
        <p:nvCxnSpPr>
          <p:cNvPr id="88" name="Google Shape;88;p16"/>
          <p:cNvCxnSpPr/>
          <p:nvPr/>
        </p:nvCxnSpPr>
        <p:spPr>
          <a:xfrm>
            <a:off x="4981750" y="2857500"/>
            <a:ext cx="431400" cy="506700"/>
          </a:xfrm>
          <a:prstGeom prst="straightConnector1">
            <a:avLst/>
          </a:prstGeom>
          <a:noFill/>
          <a:ln cap="flat" cmpd="sng" w="28575">
            <a:solidFill>
              <a:schemeClr val="dk2"/>
            </a:solidFill>
            <a:prstDash val="solid"/>
            <a:round/>
            <a:headEnd len="med" w="med" type="none"/>
            <a:tailEnd len="med" w="med" type="none"/>
          </a:ln>
        </p:spPr>
      </p:cxnSp>
      <p:cxnSp>
        <p:nvCxnSpPr>
          <p:cNvPr id="89" name="Google Shape;89;p16"/>
          <p:cNvCxnSpPr/>
          <p:nvPr/>
        </p:nvCxnSpPr>
        <p:spPr>
          <a:xfrm>
            <a:off x="5413075" y="2857500"/>
            <a:ext cx="1779300" cy="787200"/>
          </a:xfrm>
          <a:prstGeom prst="straightConnector1">
            <a:avLst/>
          </a:prstGeom>
          <a:noFill/>
          <a:ln cap="flat" cmpd="sng" w="28575">
            <a:solidFill>
              <a:schemeClr val="dk2"/>
            </a:solidFill>
            <a:prstDash val="solid"/>
            <a:round/>
            <a:headEnd len="med" w="med" type="none"/>
            <a:tailEnd len="med" w="med" type="none"/>
          </a:ln>
        </p:spPr>
      </p:cxnSp>
      <p:pic>
        <p:nvPicPr>
          <p:cNvPr id="90" name="Google Shape;90;p16"/>
          <p:cNvPicPr preferRelativeResize="0"/>
          <p:nvPr/>
        </p:nvPicPr>
        <p:blipFill>
          <a:blip r:embed="rId6">
            <a:alphaModFix/>
          </a:blip>
          <a:stretch>
            <a:fillRect/>
          </a:stretch>
        </p:blipFill>
        <p:spPr>
          <a:xfrm>
            <a:off x="7348286" y="258775"/>
            <a:ext cx="1365388" cy="1527925"/>
          </a:xfrm>
          <a:prstGeom prst="rect">
            <a:avLst/>
          </a:prstGeom>
          <a:noFill/>
          <a:ln>
            <a:noFill/>
          </a:ln>
        </p:spPr>
      </p:pic>
      <p:cxnSp>
        <p:nvCxnSpPr>
          <p:cNvPr id="91" name="Google Shape;91;p16"/>
          <p:cNvCxnSpPr/>
          <p:nvPr/>
        </p:nvCxnSpPr>
        <p:spPr>
          <a:xfrm flipH="1" rot="10800000">
            <a:off x="5596375" y="1110550"/>
            <a:ext cx="1531200" cy="442200"/>
          </a:xfrm>
          <a:prstGeom prst="straightConnector1">
            <a:avLst/>
          </a:prstGeom>
          <a:noFill/>
          <a:ln cap="flat" cmpd="sng" w="38100">
            <a:solidFill>
              <a:schemeClr val="dk2"/>
            </a:solidFill>
            <a:prstDash val="solid"/>
            <a:round/>
            <a:headEnd len="med" w="med" type="stealth"/>
            <a:tailEnd len="med" w="med" type="stealth"/>
          </a:ln>
        </p:spPr>
      </p:cxnSp>
      <p:sp>
        <p:nvSpPr>
          <p:cNvPr id="92" name="Google Shape;92;p16"/>
          <p:cNvSpPr txBox="1"/>
          <p:nvPr/>
        </p:nvSpPr>
        <p:spPr>
          <a:xfrm>
            <a:off x="6134575" y="797850"/>
            <a:ext cx="6537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solidFill>
                  <a:srgbClr val="FF0000"/>
                </a:solidFill>
                <a:latin typeface="Comfortaa"/>
                <a:ea typeface="Comfortaa"/>
                <a:cs typeface="Comfortaa"/>
                <a:sym typeface="Comfortaa"/>
              </a:rPr>
              <a:t>€</a:t>
            </a:r>
            <a:endParaRPr b="1" sz="3100">
              <a:solidFill>
                <a:srgbClr val="FF0000"/>
              </a:solidFill>
              <a:latin typeface="Comfortaa"/>
              <a:ea typeface="Comfortaa"/>
              <a:cs typeface="Comfortaa"/>
              <a:sym typeface="Comfortaa"/>
            </a:endParaRPr>
          </a:p>
        </p:txBody>
      </p:sp>
      <p:sp>
        <p:nvSpPr>
          <p:cNvPr id="93" name="Google Shape;93;p16"/>
          <p:cNvSpPr txBox="1"/>
          <p:nvPr/>
        </p:nvSpPr>
        <p:spPr>
          <a:xfrm>
            <a:off x="6409988" y="2447513"/>
            <a:ext cx="22629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100">
                <a:solidFill>
                  <a:srgbClr val="FF0000"/>
                </a:solidFill>
              </a:rPr>
              <a:t>200-400€ pour une tablette </a:t>
            </a:r>
            <a:endParaRPr i="1" sz="1100">
              <a:solidFill>
                <a:srgbClr val="FF0000"/>
              </a:solidFill>
            </a:endParaRPr>
          </a:p>
          <a:p>
            <a:pPr indent="0" lvl="0" marL="0" rtl="0" algn="l">
              <a:spcBef>
                <a:spcPts val="0"/>
              </a:spcBef>
              <a:spcAft>
                <a:spcPts val="0"/>
              </a:spcAft>
              <a:buNone/>
            </a:pPr>
            <a:r>
              <a:rPr i="1" lang="en" sz="1100">
                <a:solidFill>
                  <a:srgbClr val="FF0000"/>
                </a:solidFill>
              </a:rPr>
              <a:t>~10000€ pour équiper une salle (dont valise de transport)</a:t>
            </a:r>
            <a:endParaRPr i="1" sz="1100">
              <a:solidFill>
                <a:srgbClr val="FF0000"/>
              </a:solidFill>
            </a:endParaRPr>
          </a:p>
        </p:txBody>
      </p:sp>
      <p:sp>
        <p:nvSpPr>
          <p:cNvPr id="94" name="Google Shape;94;p16"/>
          <p:cNvSpPr txBox="1"/>
          <p:nvPr/>
        </p:nvSpPr>
        <p:spPr>
          <a:xfrm>
            <a:off x="5975875" y="2571750"/>
            <a:ext cx="6537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solidFill>
                  <a:srgbClr val="FF0000"/>
                </a:solidFill>
                <a:latin typeface="Comfortaa"/>
                <a:ea typeface="Comfortaa"/>
                <a:cs typeface="Comfortaa"/>
                <a:sym typeface="Comfortaa"/>
              </a:rPr>
              <a:t>€</a:t>
            </a:r>
            <a:endParaRPr b="1" sz="3100">
              <a:solidFill>
                <a:srgbClr val="FF0000"/>
              </a:solidFill>
              <a:latin typeface="Comfortaa"/>
              <a:ea typeface="Comfortaa"/>
              <a:cs typeface="Comfortaa"/>
              <a:sym typeface="Comfortaa"/>
            </a:endParaRPr>
          </a:p>
        </p:txBody>
      </p:sp>
      <p:sp>
        <p:nvSpPr>
          <p:cNvPr id="95" name="Google Shape;95;p16"/>
          <p:cNvSpPr txBox="1"/>
          <p:nvPr/>
        </p:nvSpPr>
        <p:spPr>
          <a:xfrm>
            <a:off x="721250" y="4427075"/>
            <a:ext cx="6537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solidFill>
                  <a:srgbClr val="FF0000"/>
                </a:solidFill>
                <a:latin typeface="Comfortaa"/>
                <a:ea typeface="Comfortaa"/>
                <a:cs typeface="Comfortaa"/>
                <a:sym typeface="Comfortaa"/>
              </a:rPr>
              <a:t>€</a:t>
            </a:r>
            <a:endParaRPr b="1" sz="3100">
              <a:solidFill>
                <a:srgbClr val="FF0000"/>
              </a:solidFill>
              <a:latin typeface="Comfortaa"/>
              <a:ea typeface="Comfortaa"/>
              <a:cs typeface="Comfortaa"/>
              <a:sym typeface="Comfortaa"/>
            </a:endParaRPr>
          </a:p>
        </p:txBody>
      </p:sp>
      <p:sp>
        <p:nvSpPr>
          <p:cNvPr id="96" name="Google Shape;96;p16"/>
          <p:cNvSpPr txBox="1"/>
          <p:nvPr/>
        </p:nvSpPr>
        <p:spPr>
          <a:xfrm>
            <a:off x="1084752" y="4564025"/>
            <a:ext cx="26433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100">
                <a:solidFill>
                  <a:srgbClr val="FF0000"/>
                </a:solidFill>
              </a:rPr>
              <a:t>0€ si machine de l’enseignant</a:t>
            </a:r>
            <a:endParaRPr i="1" sz="1100">
              <a:solidFill>
                <a:srgbClr val="FF0000"/>
              </a:solidFill>
            </a:endParaRPr>
          </a:p>
          <a:p>
            <a:pPr indent="0" lvl="0" marL="0" rtl="0" algn="l">
              <a:spcBef>
                <a:spcPts val="0"/>
              </a:spcBef>
              <a:spcAft>
                <a:spcPts val="0"/>
              </a:spcAft>
              <a:buNone/>
            </a:pPr>
            <a:r>
              <a:rPr i="1" lang="en" sz="1100">
                <a:solidFill>
                  <a:srgbClr val="FF0000"/>
                </a:solidFill>
              </a:rPr>
              <a:t>1000€ si machine de prêt pré-équipée</a:t>
            </a:r>
            <a:endParaRPr i="1" sz="1100">
              <a:solidFill>
                <a:srgbClr val="FF0000"/>
              </a:solidFill>
            </a:endParaRPr>
          </a:p>
        </p:txBody>
      </p:sp>
      <p:sp>
        <p:nvSpPr>
          <p:cNvPr id="97" name="Google Shape;97;p16"/>
          <p:cNvSpPr txBox="1"/>
          <p:nvPr/>
        </p:nvSpPr>
        <p:spPr>
          <a:xfrm>
            <a:off x="5040327" y="144450"/>
            <a:ext cx="26433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100">
                <a:solidFill>
                  <a:srgbClr val="FF0000"/>
                </a:solidFill>
              </a:rPr>
              <a:t>2</a:t>
            </a:r>
            <a:r>
              <a:rPr i="1" lang="en" sz="1100">
                <a:solidFill>
                  <a:srgbClr val="FF0000"/>
                </a:solidFill>
              </a:rPr>
              <a:t>0€ par mois par service de traduction et selon utilisation</a:t>
            </a:r>
            <a:endParaRPr i="1" sz="1100">
              <a:solidFill>
                <a:srgbClr val="FF0000"/>
              </a:solidFill>
            </a:endParaRPr>
          </a:p>
          <a:p>
            <a:pPr indent="0" lvl="0" marL="0" rtl="0" algn="l">
              <a:spcBef>
                <a:spcPts val="0"/>
              </a:spcBef>
              <a:spcAft>
                <a:spcPts val="0"/>
              </a:spcAft>
              <a:buNone/>
            </a:pPr>
            <a:r>
              <a:rPr i="1" lang="en" sz="1100">
                <a:solidFill>
                  <a:srgbClr val="FF0000"/>
                </a:solidFill>
              </a:rPr>
              <a:t>400€/an si utilisation de Google Translate et DeepL traduction</a:t>
            </a:r>
            <a:endParaRPr i="1" sz="1100">
              <a:solidFill>
                <a:srgbClr val="FF0000"/>
              </a:solidFill>
            </a:endParaRPr>
          </a:p>
        </p:txBody>
      </p:sp>
      <p:sp>
        <p:nvSpPr>
          <p:cNvPr id="98" name="Google Shape;98;p16"/>
          <p:cNvSpPr txBox="1"/>
          <p:nvPr/>
        </p:nvSpPr>
        <p:spPr>
          <a:xfrm>
            <a:off x="3396650" y="1259450"/>
            <a:ext cx="6537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solidFill>
                  <a:srgbClr val="FF0000"/>
                </a:solidFill>
                <a:latin typeface="Comfortaa"/>
                <a:ea typeface="Comfortaa"/>
                <a:cs typeface="Comfortaa"/>
                <a:sym typeface="Comfortaa"/>
              </a:rPr>
              <a:t>€</a:t>
            </a:r>
            <a:endParaRPr b="1" sz="3100">
              <a:solidFill>
                <a:srgbClr val="FF0000"/>
              </a:solidFill>
              <a:latin typeface="Comfortaa"/>
              <a:ea typeface="Comfortaa"/>
              <a:cs typeface="Comfortaa"/>
              <a:sym typeface="Comfortaa"/>
            </a:endParaRPr>
          </a:p>
        </p:txBody>
      </p:sp>
      <p:sp>
        <p:nvSpPr>
          <p:cNvPr id="99" name="Google Shape;99;p16"/>
          <p:cNvSpPr txBox="1"/>
          <p:nvPr/>
        </p:nvSpPr>
        <p:spPr>
          <a:xfrm>
            <a:off x="1674713" y="1754813"/>
            <a:ext cx="22629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100">
                <a:solidFill>
                  <a:srgbClr val="FF0000"/>
                </a:solidFill>
              </a:rPr>
              <a:t>0</a:t>
            </a:r>
            <a:r>
              <a:rPr i="1" lang="en" sz="1100">
                <a:solidFill>
                  <a:srgbClr val="FF0000"/>
                </a:solidFill>
              </a:rPr>
              <a:t>€ si VM @univ-nantes </a:t>
            </a:r>
            <a:endParaRPr i="1" sz="1100">
              <a:solidFill>
                <a:srgbClr val="FF0000"/>
              </a:solidFill>
            </a:endParaRPr>
          </a:p>
          <a:p>
            <a:pPr indent="0" lvl="0" marL="0" rtl="0" algn="l">
              <a:spcBef>
                <a:spcPts val="0"/>
              </a:spcBef>
              <a:spcAft>
                <a:spcPts val="0"/>
              </a:spcAft>
              <a:buNone/>
            </a:pPr>
            <a:r>
              <a:rPr i="1" lang="en" sz="1100">
                <a:solidFill>
                  <a:srgbClr val="FF0000"/>
                </a:solidFill>
              </a:rPr>
              <a:t>~100€/an pour un hébergement externe.</a:t>
            </a:r>
            <a:endParaRPr i="1" sz="1100">
              <a:solidFill>
                <a:srgbClr val="FF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Equipement(s) nécessaire(s)</a:t>
            </a:r>
            <a:endParaRPr/>
          </a:p>
        </p:txBody>
      </p:sp>
      <p:sp>
        <p:nvSpPr>
          <p:cNvPr id="105" name="Google Shape;105;p17"/>
          <p:cNvSpPr txBox="1"/>
          <p:nvPr>
            <p:ph idx="1" type="body"/>
          </p:nvPr>
        </p:nvSpPr>
        <p:spPr>
          <a:xfrm>
            <a:off x="311700" y="1152475"/>
            <a:ext cx="8520600" cy="36999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b="1" lang="en"/>
              <a:t>Enseignant</a:t>
            </a:r>
            <a:r>
              <a:rPr lang="en"/>
              <a:t> : </a:t>
            </a:r>
            <a:endParaRPr/>
          </a:p>
          <a:p>
            <a:pPr indent="457200" lvl="0" marL="0" rtl="0" algn="l">
              <a:spcBef>
                <a:spcPts val="1200"/>
              </a:spcBef>
              <a:spcAft>
                <a:spcPts val="0"/>
              </a:spcAft>
              <a:buNone/>
            </a:pPr>
            <a:r>
              <a:rPr lang="en"/>
              <a:t>“utilisation normale” : </a:t>
            </a:r>
            <a:r>
              <a:rPr lang="en"/>
              <a:t>un ordinateur avec le navigateur Google Chrome (impératif pour utiliser la transcription de la parole).</a:t>
            </a:r>
            <a:endParaRPr/>
          </a:p>
          <a:p>
            <a:pPr indent="457200" lvl="0" marL="0" rtl="0" algn="l">
              <a:spcBef>
                <a:spcPts val="1200"/>
              </a:spcBef>
              <a:spcAft>
                <a:spcPts val="0"/>
              </a:spcAft>
              <a:buClr>
                <a:schemeClr val="dk1"/>
              </a:buClr>
              <a:buSzPct val="61111"/>
              <a:buFont typeface="Arial"/>
              <a:buNone/>
            </a:pPr>
            <a:r>
              <a:rPr lang="en"/>
              <a:t>pour le mode </a:t>
            </a:r>
            <a:r>
              <a:rPr lang="en"/>
              <a:t>“low cost” : ordinateur et périphérique de diffusion FM.</a:t>
            </a:r>
            <a:endParaRPr/>
          </a:p>
          <a:p>
            <a:pPr indent="0" lvl="0" marL="0" rtl="0" algn="l">
              <a:spcBef>
                <a:spcPts val="1200"/>
              </a:spcBef>
              <a:spcAft>
                <a:spcPts val="0"/>
              </a:spcAft>
              <a:buNone/>
            </a:pPr>
            <a:r>
              <a:rPr b="1" lang="en"/>
              <a:t>Etudiant</a:t>
            </a:r>
            <a:r>
              <a:rPr lang="en"/>
              <a:t> (1 par étudiant qui a besoin d’une traduction) : </a:t>
            </a:r>
            <a:endParaRPr/>
          </a:p>
          <a:p>
            <a:pPr indent="457200" lvl="0" marL="0" rtl="0" algn="l">
              <a:spcBef>
                <a:spcPts val="1200"/>
              </a:spcBef>
              <a:spcAft>
                <a:spcPts val="0"/>
              </a:spcAft>
              <a:buNone/>
            </a:pPr>
            <a:r>
              <a:rPr lang="en"/>
              <a:t>“utilisation normale” : un dispositif de lecture (avec casque audio si en présentiel) (ordinateur, smartphone ou tablette).</a:t>
            </a:r>
            <a:endParaRPr/>
          </a:p>
          <a:p>
            <a:pPr indent="457200" lvl="0" marL="0" rtl="0" algn="l">
              <a:spcBef>
                <a:spcPts val="1200"/>
              </a:spcBef>
              <a:spcAft>
                <a:spcPts val="0"/>
              </a:spcAft>
              <a:buNone/>
            </a:pPr>
            <a:r>
              <a:rPr lang="en"/>
              <a:t>“low cost” et uniquement en présentiel pour une seule langue traduite : une radio FM (avec casque)</a:t>
            </a:r>
            <a:endParaRPr/>
          </a:p>
          <a:p>
            <a:pPr indent="0" lvl="0" marL="0" rtl="0" algn="l">
              <a:spcBef>
                <a:spcPts val="1200"/>
              </a:spcBef>
              <a:spcAft>
                <a:spcPts val="1200"/>
              </a:spcAft>
              <a:buNone/>
            </a:pPr>
            <a:r>
              <a:rPr b="1" lang="en"/>
              <a:t>Autre</a:t>
            </a:r>
            <a:r>
              <a:rPr lang="en"/>
              <a:t> : serveur web géré par l’université (ou un tiers de confiance)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pic>
        <p:nvPicPr>
          <p:cNvPr id="110" name="Google Shape;110;p18"/>
          <p:cNvPicPr preferRelativeResize="0"/>
          <p:nvPr/>
        </p:nvPicPr>
        <p:blipFill>
          <a:blip r:embed="rId3">
            <a:alphaModFix/>
          </a:blip>
          <a:stretch>
            <a:fillRect/>
          </a:stretch>
        </p:blipFill>
        <p:spPr>
          <a:xfrm>
            <a:off x="366625" y="3711126"/>
            <a:ext cx="3030023" cy="940951"/>
          </a:xfrm>
          <a:prstGeom prst="rect">
            <a:avLst/>
          </a:prstGeom>
          <a:noFill/>
          <a:ln cap="flat" cmpd="sng" w="9525">
            <a:solidFill>
              <a:schemeClr val="dk2"/>
            </a:solidFill>
            <a:prstDash val="solid"/>
            <a:round/>
            <a:headEnd len="sm" w="sm" type="none"/>
            <a:tailEnd len="sm" w="sm" type="none"/>
          </a:ln>
        </p:spPr>
      </p:pic>
      <p:pic>
        <p:nvPicPr>
          <p:cNvPr id="111" name="Google Shape;111;p18"/>
          <p:cNvPicPr preferRelativeResize="0"/>
          <p:nvPr/>
        </p:nvPicPr>
        <p:blipFill>
          <a:blip r:embed="rId4">
            <a:alphaModFix/>
          </a:blip>
          <a:stretch>
            <a:fillRect/>
          </a:stretch>
        </p:blipFill>
        <p:spPr>
          <a:xfrm>
            <a:off x="3749342" y="3711126"/>
            <a:ext cx="2581733" cy="940950"/>
          </a:xfrm>
          <a:prstGeom prst="rect">
            <a:avLst/>
          </a:prstGeom>
          <a:noFill/>
          <a:ln cap="flat" cmpd="sng" w="9525">
            <a:solidFill>
              <a:schemeClr val="dk2"/>
            </a:solidFill>
            <a:prstDash val="solid"/>
            <a:round/>
            <a:headEnd len="sm" w="sm" type="none"/>
            <a:tailEnd len="sm" w="sm" type="none"/>
          </a:ln>
        </p:spPr>
      </p:pic>
      <p:pic>
        <p:nvPicPr>
          <p:cNvPr id="112" name="Google Shape;112;p18"/>
          <p:cNvPicPr preferRelativeResize="0"/>
          <p:nvPr/>
        </p:nvPicPr>
        <p:blipFill>
          <a:blip r:embed="rId4">
            <a:alphaModFix/>
          </a:blip>
          <a:stretch>
            <a:fillRect/>
          </a:stretch>
        </p:blipFill>
        <p:spPr>
          <a:xfrm>
            <a:off x="4947692" y="3486126"/>
            <a:ext cx="2581733" cy="940950"/>
          </a:xfrm>
          <a:prstGeom prst="rect">
            <a:avLst/>
          </a:prstGeom>
          <a:noFill/>
          <a:ln cap="flat" cmpd="sng" w="9525">
            <a:solidFill>
              <a:schemeClr val="dk2"/>
            </a:solidFill>
            <a:prstDash val="solid"/>
            <a:round/>
            <a:headEnd len="sm" w="sm" type="none"/>
            <a:tailEnd len="sm" w="sm" type="none"/>
          </a:ln>
        </p:spPr>
      </p:pic>
      <p:pic>
        <p:nvPicPr>
          <p:cNvPr id="113" name="Google Shape;113;p18"/>
          <p:cNvPicPr preferRelativeResize="0"/>
          <p:nvPr/>
        </p:nvPicPr>
        <p:blipFill>
          <a:blip r:embed="rId4">
            <a:alphaModFix/>
          </a:blip>
          <a:stretch>
            <a:fillRect/>
          </a:stretch>
        </p:blipFill>
        <p:spPr>
          <a:xfrm>
            <a:off x="6250567" y="3778701"/>
            <a:ext cx="2581733" cy="940950"/>
          </a:xfrm>
          <a:prstGeom prst="rect">
            <a:avLst/>
          </a:prstGeom>
          <a:noFill/>
          <a:ln cap="flat" cmpd="sng" w="9525">
            <a:solidFill>
              <a:schemeClr val="dk2"/>
            </a:solidFill>
            <a:prstDash val="solid"/>
            <a:round/>
            <a:headEnd len="sm" w="sm" type="none"/>
            <a:tailEnd len="sm" w="sm" type="none"/>
          </a:ln>
        </p:spPr>
      </p:pic>
      <p:pic>
        <p:nvPicPr>
          <p:cNvPr id="114" name="Google Shape;114;p18"/>
          <p:cNvPicPr preferRelativeResize="0"/>
          <p:nvPr/>
        </p:nvPicPr>
        <p:blipFill>
          <a:blip r:embed="rId5">
            <a:alphaModFix/>
          </a:blip>
          <a:stretch>
            <a:fillRect/>
          </a:stretch>
        </p:blipFill>
        <p:spPr>
          <a:xfrm>
            <a:off x="4113677" y="1259450"/>
            <a:ext cx="1294475" cy="1527925"/>
          </a:xfrm>
          <a:prstGeom prst="rect">
            <a:avLst/>
          </a:prstGeom>
          <a:noFill/>
          <a:ln>
            <a:noFill/>
          </a:ln>
        </p:spPr>
      </p:pic>
      <p:cxnSp>
        <p:nvCxnSpPr>
          <p:cNvPr id="115" name="Google Shape;115;p18"/>
          <p:cNvCxnSpPr/>
          <p:nvPr/>
        </p:nvCxnSpPr>
        <p:spPr>
          <a:xfrm flipH="1" rot="10800000">
            <a:off x="2253650" y="2792800"/>
            <a:ext cx="1995000" cy="765600"/>
          </a:xfrm>
          <a:prstGeom prst="straightConnector1">
            <a:avLst/>
          </a:prstGeom>
          <a:noFill/>
          <a:ln cap="flat" cmpd="sng" w="28575">
            <a:solidFill>
              <a:schemeClr val="dk2"/>
            </a:solidFill>
            <a:prstDash val="solid"/>
            <a:round/>
            <a:headEnd len="med" w="med" type="none"/>
            <a:tailEnd len="med" w="med" type="none"/>
          </a:ln>
        </p:spPr>
      </p:cxnSp>
      <p:cxnSp>
        <p:nvCxnSpPr>
          <p:cNvPr id="116" name="Google Shape;116;p18"/>
          <p:cNvCxnSpPr/>
          <p:nvPr/>
        </p:nvCxnSpPr>
        <p:spPr>
          <a:xfrm rot="10800000">
            <a:off x="4485800" y="2889875"/>
            <a:ext cx="150900" cy="744000"/>
          </a:xfrm>
          <a:prstGeom prst="straightConnector1">
            <a:avLst/>
          </a:prstGeom>
          <a:noFill/>
          <a:ln cap="flat" cmpd="sng" w="28575">
            <a:solidFill>
              <a:schemeClr val="dk2"/>
            </a:solidFill>
            <a:prstDash val="solid"/>
            <a:round/>
            <a:headEnd len="med" w="med" type="none"/>
            <a:tailEnd len="med" w="med" type="none"/>
          </a:ln>
        </p:spPr>
      </p:cxnSp>
      <p:cxnSp>
        <p:nvCxnSpPr>
          <p:cNvPr id="117" name="Google Shape;117;p18"/>
          <p:cNvCxnSpPr/>
          <p:nvPr/>
        </p:nvCxnSpPr>
        <p:spPr>
          <a:xfrm>
            <a:off x="4981750" y="2857500"/>
            <a:ext cx="431400" cy="506700"/>
          </a:xfrm>
          <a:prstGeom prst="straightConnector1">
            <a:avLst/>
          </a:prstGeom>
          <a:noFill/>
          <a:ln cap="flat" cmpd="sng" w="28575">
            <a:solidFill>
              <a:schemeClr val="dk2"/>
            </a:solidFill>
            <a:prstDash val="solid"/>
            <a:round/>
            <a:headEnd len="med" w="med" type="none"/>
            <a:tailEnd len="med" w="med" type="none"/>
          </a:ln>
        </p:spPr>
      </p:cxnSp>
      <p:cxnSp>
        <p:nvCxnSpPr>
          <p:cNvPr id="118" name="Google Shape;118;p18"/>
          <p:cNvCxnSpPr/>
          <p:nvPr/>
        </p:nvCxnSpPr>
        <p:spPr>
          <a:xfrm>
            <a:off x="5413075" y="2857500"/>
            <a:ext cx="1779300" cy="787200"/>
          </a:xfrm>
          <a:prstGeom prst="straightConnector1">
            <a:avLst/>
          </a:prstGeom>
          <a:noFill/>
          <a:ln cap="flat" cmpd="sng" w="28575">
            <a:solidFill>
              <a:schemeClr val="dk2"/>
            </a:solidFill>
            <a:prstDash val="solid"/>
            <a:round/>
            <a:headEnd len="med" w="med" type="none"/>
            <a:tailEnd len="med" w="med" type="none"/>
          </a:ln>
        </p:spPr>
      </p:cxnSp>
      <p:pic>
        <p:nvPicPr>
          <p:cNvPr id="119" name="Google Shape;119;p18"/>
          <p:cNvPicPr preferRelativeResize="0"/>
          <p:nvPr/>
        </p:nvPicPr>
        <p:blipFill>
          <a:blip r:embed="rId6">
            <a:alphaModFix/>
          </a:blip>
          <a:stretch>
            <a:fillRect/>
          </a:stretch>
        </p:blipFill>
        <p:spPr>
          <a:xfrm>
            <a:off x="7348286" y="258775"/>
            <a:ext cx="1365388" cy="1527925"/>
          </a:xfrm>
          <a:prstGeom prst="rect">
            <a:avLst/>
          </a:prstGeom>
          <a:noFill/>
          <a:ln>
            <a:noFill/>
          </a:ln>
        </p:spPr>
      </p:pic>
      <p:cxnSp>
        <p:nvCxnSpPr>
          <p:cNvPr id="120" name="Google Shape;120;p18"/>
          <p:cNvCxnSpPr/>
          <p:nvPr/>
        </p:nvCxnSpPr>
        <p:spPr>
          <a:xfrm flipH="1" rot="10800000">
            <a:off x="5596375" y="1110550"/>
            <a:ext cx="1531200" cy="442200"/>
          </a:xfrm>
          <a:prstGeom prst="straightConnector1">
            <a:avLst/>
          </a:prstGeom>
          <a:noFill/>
          <a:ln cap="flat" cmpd="sng" w="38100">
            <a:solidFill>
              <a:schemeClr val="dk2"/>
            </a:solidFill>
            <a:prstDash val="solid"/>
            <a:round/>
            <a:headEnd len="med" w="med" type="stealth"/>
            <a:tailEnd len="med" w="med" type="stealth"/>
          </a:ln>
        </p:spPr>
      </p:cxnSp>
      <p:sp>
        <p:nvSpPr>
          <p:cNvPr id="121" name="Google Shape;121;p18"/>
          <p:cNvSpPr txBox="1"/>
          <p:nvPr>
            <p:ph type="title"/>
          </p:nvPr>
        </p:nvSpPr>
        <p:spPr>
          <a:xfrm>
            <a:off x="311700" y="216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Mode “low cost”</a:t>
            </a:r>
            <a:endParaRPr/>
          </a:p>
        </p:txBody>
      </p:sp>
      <p:sp>
        <p:nvSpPr>
          <p:cNvPr id="122" name="Google Shape;122;p18"/>
          <p:cNvSpPr/>
          <p:nvPr/>
        </p:nvSpPr>
        <p:spPr>
          <a:xfrm>
            <a:off x="905775" y="3267250"/>
            <a:ext cx="172525" cy="442100"/>
          </a:xfrm>
          <a:custGeom>
            <a:rect b="b" l="l" r="r" t="t"/>
            <a:pathLst>
              <a:path extrusionOk="0" h="17684" w="6901">
                <a:moveTo>
                  <a:pt x="6901" y="17684"/>
                </a:moveTo>
                <a:cubicBezTo>
                  <a:pt x="4071" y="12024"/>
                  <a:pt x="0" y="6328"/>
                  <a:pt x="0" y="0"/>
                </a:cubicBezTo>
              </a:path>
            </a:pathLst>
          </a:custGeom>
          <a:noFill/>
          <a:ln cap="flat" cmpd="sng" w="9525">
            <a:solidFill>
              <a:schemeClr val="dk2"/>
            </a:solidFill>
            <a:prstDash val="solid"/>
            <a:round/>
            <a:headEnd len="med" w="med" type="none"/>
            <a:tailEnd len="med" w="med" type="none"/>
          </a:ln>
        </p:spPr>
      </p:sp>
      <p:sp>
        <p:nvSpPr>
          <p:cNvPr id="123" name="Google Shape;123;p18"/>
          <p:cNvSpPr txBox="1"/>
          <p:nvPr/>
        </p:nvSpPr>
        <p:spPr>
          <a:xfrm>
            <a:off x="981250" y="3440400"/>
            <a:ext cx="862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USB</a:t>
            </a:r>
            <a:endParaRPr sz="1000"/>
          </a:p>
        </p:txBody>
      </p:sp>
      <p:pic>
        <p:nvPicPr>
          <p:cNvPr id="124" name="Google Shape;124;p18"/>
          <p:cNvPicPr preferRelativeResize="0"/>
          <p:nvPr/>
        </p:nvPicPr>
        <p:blipFill>
          <a:blip r:embed="rId7">
            <a:alphaModFix/>
          </a:blip>
          <a:stretch>
            <a:fillRect/>
          </a:stretch>
        </p:blipFill>
        <p:spPr>
          <a:xfrm>
            <a:off x="442830" y="2495550"/>
            <a:ext cx="518142" cy="787200"/>
          </a:xfrm>
          <a:prstGeom prst="rect">
            <a:avLst/>
          </a:prstGeom>
          <a:noFill/>
          <a:ln>
            <a:noFill/>
          </a:ln>
        </p:spPr>
      </p:pic>
      <p:sp>
        <p:nvSpPr>
          <p:cNvPr id="125" name="Google Shape;125;p18"/>
          <p:cNvSpPr txBox="1"/>
          <p:nvPr/>
        </p:nvSpPr>
        <p:spPr>
          <a:xfrm>
            <a:off x="6017650" y="2413250"/>
            <a:ext cx="21990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a:t>Direct et différé</a:t>
            </a:r>
            <a:endParaRPr i="1"/>
          </a:p>
          <a:p>
            <a:pPr indent="0" lvl="0" marL="0" rtl="0" algn="l">
              <a:spcBef>
                <a:spcPts val="0"/>
              </a:spcBef>
              <a:spcAft>
                <a:spcPts val="0"/>
              </a:spcAft>
              <a:buNone/>
            </a:pPr>
            <a:r>
              <a:rPr i="1" lang="en"/>
              <a:t>Texte+audio+vidéo</a:t>
            </a:r>
            <a:endParaRPr i="1"/>
          </a:p>
          <a:p>
            <a:pPr indent="0" lvl="0" marL="0" rtl="0" algn="l">
              <a:spcBef>
                <a:spcPts val="0"/>
              </a:spcBef>
              <a:spcAft>
                <a:spcPts val="0"/>
              </a:spcAft>
              <a:buNone/>
            </a:pPr>
            <a:r>
              <a:rPr i="1" lang="en"/>
              <a:t>Choix de la langue</a:t>
            </a:r>
            <a:endParaRPr i="1"/>
          </a:p>
        </p:txBody>
      </p:sp>
      <p:sp>
        <p:nvSpPr>
          <p:cNvPr id="126" name="Google Shape;126;p18"/>
          <p:cNvSpPr txBox="1"/>
          <p:nvPr/>
        </p:nvSpPr>
        <p:spPr>
          <a:xfrm>
            <a:off x="1304750" y="1781350"/>
            <a:ext cx="19302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a:t>Direct uniquement</a:t>
            </a:r>
            <a:endParaRPr i="1"/>
          </a:p>
          <a:p>
            <a:pPr indent="0" lvl="0" marL="0" rtl="0" algn="l">
              <a:spcBef>
                <a:spcPts val="0"/>
              </a:spcBef>
              <a:spcAft>
                <a:spcPts val="0"/>
              </a:spcAft>
              <a:buNone/>
            </a:pPr>
            <a:r>
              <a:rPr i="1" lang="en"/>
              <a:t>Audio uniquement</a:t>
            </a:r>
            <a:endParaRPr i="1"/>
          </a:p>
          <a:p>
            <a:pPr indent="0" lvl="0" marL="0" rtl="0" algn="l">
              <a:spcBef>
                <a:spcPts val="0"/>
              </a:spcBef>
              <a:spcAft>
                <a:spcPts val="0"/>
              </a:spcAft>
              <a:buNone/>
            </a:pPr>
            <a:r>
              <a:rPr i="1" lang="en"/>
              <a:t>1 seule langue</a:t>
            </a:r>
            <a:endParaRPr i="1"/>
          </a:p>
        </p:txBody>
      </p:sp>
      <p:pic>
        <p:nvPicPr>
          <p:cNvPr id="127" name="Google Shape;127;p18"/>
          <p:cNvPicPr preferRelativeResize="0"/>
          <p:nvPr/>
        </p:nvPicPr>
        <p:blipFill>
          <a:blip r:embed="rId8">
            <a:alphaModFix/>
          </a:blip>
          <a:stretch>
            <a:fillRect/>
          </a:stretch>
        </p:blipFill>
        <p:spPr>
          <a:xfrm>
            <a:off x="532550" y="1110550"/>
            <a:ext cx="338701" cy="338701"/>
          </a:xfrm>
          <a:prstGeom prst="rect">
            <a:avLst/>
          </a:prstGeom>
          <a:noFill/>
          <a:ln>
            <a:noFill/>
          </a:ln>
        </p:spPr>
      </p:pic>
      <p:pic>
        <p:nvPicPr>
          <p:cNvPr id="128" name="Google Shape;128;p18"/>
          <p:cNvPicPr preferRelativeResize="0"/>
          <p:nvPr/>
        </p:nvPicPr>
        <p:blipFill>
          <a:blip r:embed="rId8">
            <a:alphaModFix/>
          </a:blip>
          <a:stretch>
            <a:fillRect/>
          </a:stretch>
        </p:blipFill>
        <p:spPr>
          <a:xfrm>
            <a:off x="981250" y="1001588"/>
            <a:ext cx="338701" cy="338701"/>
          </a:xfrm>
          <a:prstGeom prst="rect">
            <a:avLst/>
          </a:prstGeom>
          <a:noFill/>
          <a:ln>
            <a:noFill/>
          </a:ln>
        </p:spPr>
      </p:pic>
      <p:pic>
        <p:nvPicPr>
          <p:cNvPr id="129" name="Google Shape;129;p18"/>
          <p:cNvPicPr preferRelativeResize="0"/>
          <p:nvPr/>
        </p:nvPicPr>
        <p:blipFill>
          <a:blip r:embed="rId8">
            <a:alphaModFix/>
          </a:blip>
          <a:stretch>
            <a:fillRect/>
          </a:stretch>
        </p:blipFill>
        <p:spPr>
          <a:xfrm>
            <a:off x="1319950" y="1340300"/>
            <a:ext cx="338701" cy="338701"/>
          </a:xfrm>
          <a:prstGeom prst="rect">
            <a:avLst/>
          </a:prstGeom>
          <a:noFill/>
          <a:ln>
            <a:noFill/>
          </a:ln>
        </p:spPr>
      </p:pic>
      <p:pic>
        <p:nvPicPr>
          <p:cNvPr id="130" name="Google Shape;130;p18"/>
          <p:cNvPicPr preferRelativeResize="0"/>
          <p:nvPr/>
        </p:nvPicPr>
        <p:blipFill>
          <a:blip r:embed="rId8">
            <a:alphaModFix/>
          </a:blip>
          <a:stretch>
            <a:fillRect/>
          </a:stretch>
        </p:blipFill>
        <p:spPr>
          <a:xfrm>
            <a:off x="1572025" y="895363"/>
            <a:ext cx="338701" cy="338701"/>
          </a:xfrm>
          <a:prstGeom prst="rect">
            <a:avLst/>
          </a:prstGeom>
          <a:noFill/>
          <a:ln>
            <a:noFill/>
          </a:ln>
        </p:spPr>
      </p:pic>
      <p:sp>
        <p:nvSpPr>
          <p:cNvPr id="131" name="Google Shape;131;p18"/>
          <p:cNvSpPr/>
          <p:nvPr/>
        </p:nvSpPr>
        <p:spPr>
          <a:xfrm rot="2169985">
            <a:off x="269588" y="1899413"/>
            <a:ext cx="338660" cy="248009"/>
          </a:xfrm>
          <a:prstGeom prst="lightningBol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8"/>
          <p:cNvSpPr/>
          <p:nvPr/>
        </p:nvSpPr>
        <p:spPr>
          <a:xfrm rot="3111059">
            <a:off x="532548" y="1965551"/>
            <a:ext cx="338664" cy="248019"/>
          </a:xfrm>
          <a:prstGeom prst="lightningBol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8"/>
          <p:cNvSpPr/>
          <p:nvPr/>
        </p:nvSpPr>
        <p:spPr>
          <a:xfrm rot="4474452">
            <a:off x="807445" y="1990749"/>
            <a:ext cx="338629" cy="247998"/>
          </a:xfrm>
          <a:prstGeom prst="lightningBol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pic>
        <p:nvPicPr>
          <p:cNvPr id="138" name="Google Shape;138;p19"/>
          <p:cNvPicPr preferRelativeResize="0"/>
          <p:nvPr/>
        </p:nvPicPr>
        <p:blipFill>
          <a:blip r:embed="rId3">
            <a:alphaModFix/>
          </a:blip>
          <a:stretch>
            <a:fillRect/>
          </a:stretch>
        </p:blipFill>
        <p:spPr>
          <a:xfrm>
            <a:off x="366625" y="3711126"/>
            <a:ext cx="3030023" cy="940951"/>
          </a:xfrm>
          <a:prstGeom prst="rect">
            <a:avLst/>
          </a:prstGeom>
          <a:noFill/>
          <a:ln cap="flat" cmpd="sng" w="9525">
            <a:solidFill>
              <a:schemeClr val="dk2"/>
            </a:solidFill>
            <a:prstDash val="solid"/>
            <a:round/>
            <a:headEnd len="sm" w="sm" type="none"/>
            <a:tailEnd len="sm" w="sm" type="none"/>
          </a:ln>
        </p:spPr>
      </p:pic>
      <p:pic>
        <p:nvPicPr>
          <p:cNvPr id="139" name="Google Shape;139;p19"/>
          <p:cNvPicPr preferRelativeResize="0"/>
          <p:nvPr/>
        </p:nvPicPr>
        <p:blipFill>
          <a:blip r:embed="rId4">
            <a:alphaModFix/>
          </a:blip>
          <a:stretch>
            <a:fillRect/>
          </a:stretch>
        </p:blipFill>
        <p:spPr>
          <a:xfrm>
            <a:off x="3749342" y="3711126"/>
            <a:ext cx="2581733" cy="940950"/>
          </a:xfrm>
          <a:prstGeom prst="rect">
            <a:avLst/>
          </a:prstGeom>
          <a:noFill/>
          <a:ln cap="flat" cmpd="sng" w="9525">
            <a:solidFill>
              <a:schemeClr val="dk2"/>
            </a:solidFill>
            <a:prstDash val="solid"/>
            <a:round/>
            <a:headEnd len="sm" w="sm" type="none"/>
            <a:tailEnd len="sm" w="sm" type="none"/>
          </a:ln>
        </p:spPr>
      </p:pic>
      <p:pic>
        <p:nvPicPr>
          <p:cNvPr id="140" name="Google Shape;140;p19"/>
          <p:cNvPicPr preferRelativeResize="0"/>
          <p:nvPr/>
        </p:nvPicPr>
        <p:blipFill>
          <a:blip r:embed="rId4">
            <a:alphaModFix/>
          </a:blip>
          <a:stretch>
            <a:fillRect/>
          </a:stretch>
        </p:blipFill>
        <p:spPr>
          <a:xfrm>
            <a:off x="4947692" y="3486126"/>
            <a:ext cx="2581733" cy="940950"/>
          </a:xfrm>
          <a:prstGeom prst="rect">
            <a:avLst/>
          </a:prstGeom>
          <a:noFill/>
          <a:ln cap="flat" cmpd="sng" w="9525">
            <a:solidFill>
              <a:schemeClr val="dk2"/>
            </a:solidFill>
            <a:prstDash val="solid"/>
            <a:round/>
            <a:headEnd len="sm" w="sm" type="none"/>
            <a:tailEnd len="sm" w="sm" type="none"/>
          </a:ln>
        </p:spPr>
      </p:pic>
      <p:pic>
        <p:nvPicPr>
          <p:cNvPr id="141" name="Google Shape;141;p19"/>
          <p:cNvPicPr preferRelativeResize="0"/>
          <p:nvPr/>
        </p:nvPicPr>
        <p:blipFill>
          <a:blip r:embed="rId4">
            <a:alphaModFix/>
          </a:blip>
          <a:stretch>
            <a:fillRect/>
          </a:stretch>
        </p:blipFill>
        <p:spPr>
          <a:xfrm>
            <a:off x="6250567" y="3778701"/>
            <a:ext cx="2581733" cy="940950"/>
          </a:xfrm>
          <a:prstGeom prst="rect">
            <a:avLst/>
          </a:prstGeom>
          <a:noFill/>
          <a:ln cap="flat" cmpd="sng" w="9525">
            <a:solidFill>
              <a:schemeClr val="dk2"/>
            </a:solidFill>
            <a:prstDash val="solid"/>
            <a:round/>
            <a:headEnd len="sm" w="sm" type="none"/>
            <a:tailEnd len="sm" w="sm" type="none"/>
          </a:ln>
        </p:spPr>
      </p:pic>
      <p:pic>
        <p:nvPicPr>
          <p:cNvPr id="142" name="Google Shape;142;p19"/>
          <p:cNvPicPr preferRelativeResize="0"/>
          <p:nvPr/>
        </p:nvPicPr>
        <p:blipFill>
          <a:blip r:embed="rId5">
            <a:alphaModFix/>
          </a:blip>
          <a:stretch>
            <a:fillRect/>
          </a:stretch>
        </p:blipFill>
        <p:spPr>
          <a:xfrm>
            <a:off x="4113677" y="1259450"/>
            <a:ext cx="1294475" cy="1527925"/>
          </a:xfrm>
          <a:prstGeom prst="rect">
            <a:avLst/>
          </a:prstGeom>
          <a:noFill/>
          <a:ln>
            <a:noFill/>
          </a:ln>
        </p:spPr>
      </p:pic>
      <p:cxnSp>
        <p:nvCxnSpPr>
          <p:cNvPr id="143" name="Google Shape;143;p19"/>
          <p:cNvCxnSpPr/>
          <p:nvPr/>
        </p:nvCxnSpPr>
        <p:spPr>
          <a:xfrm flipH="1" rot="10800000">
            <a:off x="2253650" y="2792800"/>
            <a:ext cx="1995000" cy="765600"/>
          </a:xfrm>
          <a:prstGeom prst="straightConnector1">
            <a:avLst/>
          </a:prstGeom>
          <a:noFill/>
          <a:ln cap="flat" cmpd="sng" w="28575">
            <a:solidFill>
              <a:schemeClr val="dk2"/>
            </a:solidFill>
            <a:prstDash val="solid"/>
            <a:round/>
            <a:headEnd len="med" w="med" type="none"/>
            <a:tailEnd len="med" w="med" type="none"/>
          </a:ln>
        </p:spPr>
      </p:cxnSp>
      <p:cxnSp>
        <p:nvCxnSpPr>
          <p:cNvPr id="144" name="Google Shape;144;p19"/>
          <p:cNvCxnSpPr/>
          <p:nvPr/>
        </p:nvCxnSpPr>
        <p:spPr>
          <a:xfrm rot="10800000">
            <a:off x="4485800" y="2889875"/>
            <a:ext cx="150900" cy="744000"/>
          </a:xfrm>
          <a:prstGeom prst="straightConnector1">
            <a:avLst/>
          </a:prstGeom>
          <a:noFill/>
          <a:ln cap="flat" cmpd="sng" w="28575">
            <a:solidFill>
              <a:schemeClr val="dk2"/>
            </a:solidFill>
            <a:prstDash val="solid"/>
            <a:round/>
            <a:headEnd len="med" w="med" type="none"/>
            <a:tailEnd len="med" w="med" type="none"/>
          </a:ln>
        </p:spPr>
      </p:cxnSp>
      <p:cxnSp>
        <p:nvCxnSpPr>
          <p:cNvPr id="145" name="Google Shape;145;p19"/>
          <p:cNvCxnSpPr/>
          <p:nvPr/>
        </p:nvCxnSpPr>
        <p:spPr>
          <a:xfrm>
            <a:off x="4981750" y="2857500"/>
            <a:ext cx="431400" cy="506700"/>
          </a:xfrm>
          <a:prstGeom prst="straightConnector1">
            <a:avLst/>
          </a:prstGeom>
          <a:noFill/>
          <a:ln cap="flat" cmpd="sng" w="28575">
            <a:solidFill>
              <a:schemeClr val="dk2"/>
            </a:solidFill>
            <a:prstDash val="solid"/>
            <a:round/>
            <a:headEnd len="med" w="med" type="none"/>
            <a:tailEnd len="med" w="med" type="none"/>
          </a:ln>
        </p:spPr>
      </p:cxnSp>
      <p:cxnSp>
        <p:nvCxnSpPr>
          <p:cNvPr id="146" name="Google Shape;146;p19"/>
          <p:cNvCxnSpPr/>
          <p:nvPr/>
        </p:nvCxnSpPr>
        <p:spPr>
          <a:xfrm>
            <a:off x="5413075" y="2857500"/>
            <a:ext cx="1779300" cy="787200"/>
          </a:xfrm>
          <a:prstGeom prst="straightConnector1">
            <a:avLst/>
          </a:prstGeom>
          <a:noFill/>
          <a:ln cap="flat" cmpd="sng" w="28575">
            <a:solidFill>
              <a:schemeClr val="dk2"/>
            </a:solidFill>
            <a:prstDash val="solid"/>
            <a:round/>
            <a:headEnd len="med" w="med" type="none"/>
            <a:tailEnd len="med" w="med" type="none"/>
          </a:ln>
        </p:spPr>
      </p:cxnSp>
      <p:pic>
        <p:nvPicPr>
          <p:cNvPr id="147" name="Google Shape;147;p19"/>
          <p:cNvPicPr preferRelativeResize="0"/>
          <p:nvPr/>
        </p:nvPicPr>
        <p:blipFill>
          <a:blip r:embed="rId6">
            <a:alphaModFix/>
          </a:blip>
          <a:stretch>
            <a:fillRect/>
          </a:stretch>
        </p:blipFill>
        <p:spPr>
          <a:xfrm>
            <a:off x="7348286" y="258775"/>
            <a:ext cx="1365388" cy="1527925"/>
          </a:xfrm>
          <a:prstGeom prst="rect">
            <a:avLst/>
          </a:prstGeom>
          <a:noFill/>
          <a:ln>
            <a:noFill/>
          </a:ln>
        </p:spPr>
      </p:pic>
      <p:cxnSp>
        <p:nvCxnSpPr>
          <p:cNvPr id="148" name="Google Shape;148;p19"/>
          <p:cNvCxnSpPr/>
          <p:nvPr/>
        </p:nvCxnSpPr>
        <p:spPr>
          <a:xfrm flipH="1" rot="10800000">
            <a:off x="5596375" y="1110550"/>
            <a:ext cx="1531200" cy="442200"/>
          </a:xfrm>
          <a:prstGeom prst="straightConnector1">
            <a:avLst/>
          </a:prstGeom>
          <a:noFill/>
          <a:ln cap="flat" cmpd="sng" w="38100">
            <a:solidFill>
              <a:schemeClr val="dk2"/>
            </a:solidFill>
            <a:prstDash val="solid"/>
            <a:round/>
            <a:headEnd len="med" w="med" type="stealth"/>
            <a:tailEnd len="med" w="med" type="stealth"/>
          </a:ln>
        </p:spPr>
      </p:cxnSp>
      <p:sp>
        <p:nvSpPr>
          <p:cNvPr id="149" name="Google Shape;149;p19"/>
          <p:cNvSpPr txBox="1"/>
          <p:nvPr>
            <p:ph type="title"/>
          </p:nvPr>
        </p:nvSpPr>
        <p:spPr>
          <a:xfrm>
            <a:off x="311700" y="216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Mode “low cost”</a:t>
            </a:r>
            <a:endParaRPr/>
          </a:p>
        </p:txBody>
      </p:sp>
      <p:sp>
        <p:nvSpPr>
          <p:cNvPr id="150" name="Google Shape;150;p19"/>
          <p:cNvSpPr/>
          <p:nvPr/>
        </p:nvSpPr>
        <p:spPr>
          <a:xfrm>
            <a:off x="905775" y="3267250"/>
            <a:ext cx="172525" cy="442100"/>
          </a:xfrm>
          <a:custGeom>
            <a:rect b="b" l="l" r="r" t="t"/>
            <a:pathLst>
              <a:path extrusionOk="0" h="17684" w="6901">
                <a:moveTo>
                  <a:pt x="6901" y="17684"/>
                </a:moveTo>
                <a:cubicBezTo>
                  <a:pt x="4071" y="12024"/>
                  <a:pt x="0" y="6328"/>
                  <a:pt x="0" y="0"/>
                </a:cubicBezTo>
              </a:path>
            </a:pathLst>
          </a:custGeom>
          <a:noFill/>
          <a:ln cap="flat" cmpd="sng" w="9525">
            <a:solidFill>
              <a:schemeClr val="dk2"/>
            </a:solidFill>
            <a:prstDash val="solid"/>
            <a:round/>
            <a:headEnd len="med" w="med" type="none"/>
            <a:tailEnd len="med" w="med" type="none"/>
          </a:ln>
        </p:spPr>
      </p:sp>
      <p:sp>
        <p:nvSpPr>
          <p:cNvPr id="151" name="Google Shape;151;p19"/>
          <p:cNvSpPr txBox="1"/>
          <p:nvPr/>
        </p:nvSpPr>
        <p:spPr>
          <a:xfrm>
            <a:off x="981250" y="3440400"/>
            <a:ext cx="862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USB</a:t>
            </a:r>
            <a:endParaRPr sz="1000"/>
          </a:p>
        </p:txBody>
      </p:sp>
      <p:pic>
        <p:nvPicPr>
          <p:cNvPr id="152" name="Google Shape;152;p19"/>
          <p:cNvPicPr preferRelativeResize="0"/>
          <p:nvPr/>
        </p:nvPicPr>
        <p:blipFill>
          <a:blip r:embed="rId7">
            <a:alphaModFix/>
          </a:blip>
          <a:stretch>
            <a:fillRect/>
          </a:stretch>
        </p:blipFill>
        <p:spPr>
          <a:xfrm>
            <a:off x="442830" y="2495550"/>
            <a:ext cx="518142" cy="787200"/>
          </a:xfrm>
          <a:prstGeom prst="rect">
            <a:avLst/>
          </a:prstGeom>
          <a:noFill/>
          <a:ln>
            <a:noFill/>
          </a:ln>
        </p:spPr>
      </p:pic>
      <p:sp>
        <p:nvSpPr>
          <p:cNvPr id="153" name="Google Shape;153;p19"/>
          <p:cNvSpPr txBox="1"/>
          <p:nvPr/>
        </p:nvSpPr>
        <p:spPr>
          <a:xfrm>
            <a:off x="6017650" y="2413250"/>
            <a:ext cx="21990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a:t>Direct et différé</a:t>
            </a:r>
            <a:endParaRPr i="1"/>
          </a:p>
          <a:p>
            <a:pPr indent="0" lvl="0" marL="0" rtl="0" algn="l">
              <a:spcBef>
                <a:spcPts val="0"/>
              </a:spcBef>
              <a:spcAft>
                <a:spcPts val="0"/>
              </a:spcAft>
              <a:buNone/>
            </a:pPr>
            <a:r>
              <a:rPr i="1" lang="en"/>
              <a:t>Texte+audio+vidéo</a:t>
            </a:r>
            <a:endParaRPr i="1"/>
          </a:p>
          <a:p>
            <a:pPr indent="0" lvl="0" marL="0" rtl="0" algn="l">
              <a:spcBef>
                <a:spcPts val="0"/>
              </a:spcBef>
              <a:spcAft>
                <a:spcPts val="0"/>
              </a:spcAft>
              <a:buNone/>
            </a:pPr>
            <a:r>
              <a:rPr i="1" lang="en"/>
              <a:t>Choix de la langue</a:t>
            </a:r>
            <a:endParaRPr i="1"/>
          </a:p>
        </p:txBody>
      </p:sp>
      <p:sp>
        <p:nvSpPr>
          <p:cNvPr id="154" name="Google Shape;154;p19"/>
          <p:cNvSpPr txBox="1"/>
          <p:nvPr/>
        </p:nvSpPr>
        <p:spPr>
          <a:xfrm>
            <a:off x="1304750" y="1781350"/>
            <a:ext cx="19302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a:t>Direct uniquement</a:t>
            </a:r>
            <a:endParaRPr i="1"/>
          </a:p>
          <a:p>
            <a:pPr indent="0" lvl="0" marL="0" rtl="0" algn="l">
              <a:spcBef>
                <a:spcPts val="0"/>
              </a:spcBef>
              <a:spcAft>
                <a:spcPts val="0"/>
              </a:spcAft>
              <a:buNone/>
            </a:pPr>
            <a:r>
              <a:rPr i="1" lang="en"/>
              <a:t>Audio uniquement</a:t>
            </a:r>
            <a:endParaRPr i="1"/>
          </a:p>
          <a:p>
            <a:pPr indent="0" lvl="0" marL="0" rtl="0" algn="l">
              <a:spcBef>
                <a:spcPts val="0"/>
              </a:spcBef>
              <a:spcAft>
                <a:spcPts val="0"/>
              </a:spcAft>
              <a:buNone/>
            </a:pPr>
            <a:r>
              <a:rPr i="1" lang="en"/>
              <a:t>1 seule langue</a:t>
            </a:r>
            <a:endParaRPr i="1"/>
          </a:p>
        </p:txBody>
      </p:sp>
      <p:pic>
        <p:nvPicPr>
          <p:cNvPr id="155" name="Google Shape;155;p19"/>
          <p:cNvPicPr preferRelativeResize="0"/>
          <p:nvPr/>
        </p:nvPicPr>
        <p:blipFill>
          <a:blip r:embed="rId8">
            <a:alphaModFix/>
          </a:blip>
          <a:stretch>
            <a:fillRect/>
          </a:stretch>
        </p:blipFill>
        <p:spPr>
          <a:xfrm>
            <a:off x="532550" y="1110550"/>
            <a:ext cx="338701" cy="338701"/>
          </a:xfrm>
          <a:prstGeom prst="rect">
            <a:avLst/>
          </a:prstGeom>
          <a:noFill/>
          <a:ln>
            <a:noFill/>
          </a:ln>
        </p:spPr>
      </p:pic>
      <p:pic>
        <p:nvPicPr>
          <p:cNvPr id="156" name="Google Shape;156;p19"/>
          <p:cNvPicPr preferRelativeResize="0"/>
          <p:nvPr/>
        </p:nvPicPr>
        <p:blipFill>
          <a:blip r:embed="rId8">
            <a:alphaModFix/>
          </a:blip>
          <a:stretch>
            <a:fillRect/>
          </a:stretch>
        </p:blipFill>
        <p:spPr>
          <a:xfrm>
            <a:off x="981250" y="1001588"/>
            <a:ext cx="338701" cy="338701"/>
          </a:xfrm>
          <a:prstGeom prst="rect">
            <a:avLst/>
          </a:prstGeom>
          <a:noFill/>
          <a:ln>
            <a:noFill/>
          </a:ln>
        </p:spPr>
      </p:pic>
      <p:pic>
        <p:nvPicPr>
          <p:cNvPr id="157" name="Google Shape;157;p19"/>
          <p:cNvPicPr preferRelativeResize="0"/>
          <p:nvPr/>
        </p:nvPicPr>
        <p:blipFill>
          <a:blip r:embed="rId8">
            <a:alphaModFix/>
          </a:blip>
          <a:stretch>
            <a:fillRect/>
          </a:stretch>
        </p:blipFill>
        <p:spPr>
          <a:xfrm>
            <a:off x="1319950" y="1340300"/>
            <a:ext cx="338701" cy="338701"/>
          </a:xfrm>
          <a:prstGeom prst="rect">
            <a:avLst/>
          </a:prstGeom>
          <a:noFill/>
          <a:ln>
            <a:noFill/>
          </a:ln>
        </p:spPr>
      </p:pic>
      <p:pic>
        <p:nvPicPr>
          <p:cNvPr id="158" name="Google Shape;158;p19"/>
          <p:cNvPicPr preferRelativeResize="0"/>
          <p:nvPr/>
        </p:nvPicPr>
        <p:blipFill>
          <a:blip r:embed="rId8">
            <a:alphaModFix/>
          </a:blip>
          <a:stretch>
            <a:fillRect/>
          </a:stretch>
        </p:blipFill>
        <p:spPr>
          <a:xfrm>
            <a:off x="1572025" y="895363"/>
            <a:ext cx="338701" cy="338701"/>
          </a:xfrm>
          <a:prstGeom prst="rect">
            <a:avLst/>
          </a:prstGeom>
          <a:noFill/>
          <a:ln>
            <a:noFill/>
          </a:ln>
        </p:spPr>
      </p:pic>
      <p:sp>
        <p:nvSpPr>
          <p:cNvPr id="159" name="Google Shape;159;p19"/>
          <p:cNvSpPr/>
          <p:nvPr/>
        </p:nvSpPr>
        <p:spPr>
          <a:xfrm rot="2169985">
            <a:off x="269588" y="1899413"/>
            <a:ext cx="338660" cy="248009"/>
          </a:xfrm>
          <a:prstGeom prst="lightningBol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9"/>
          <p:cNvSpPr/>
          <p:nvPr/>
        </p:nvSpPr>
        <p:spPr>
          <a:xfrm rot="3111059">
            <a:off x="532548" y="1965551"/>
            <a:ext cx="338664" cy="248019"/>
          </a:xfrm>
          <a:prstGeom prst="lightningBol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9"/>
          <p:cNvSpPr/>
          <p:nvPr/>
        </p:nvSpPr>
        <p:spPr>
          <a:xfrm rot="4474452">
            <a:off x="807445" y="1990749"/>
            <a:ext cx="338629" cy="247998"/>
          </a:xfrm>
          <a:prstGeom prst="lightningBol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9"/>
          <p:cNvSpPr txBox="1"/>
          <p:nvPr/>
        </p:nvSpPr>
        <p:spPr>
          <a:xfrm>
            <a:off x="6134575" y="797850"/>
            <a:ext cx="6537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solidFill>
                  <a:srgbClr val="FF0000"/>
                </a:solidFill>
                <a:latin typeface="Comfortaa"/>
                <a:ea typeface="Comfortaa"/>
                <a:cs typeface="Comfortaa"/>
                <a:sym typeface="Comfortaa"/>
              </a:rPr>
              <a:t>€</a:t>
            </a:r>
            <a:endParaRPr b="1" sz="3100">
              <a:solidFill>
                <a:srgbClr val="FF0000"/>
              </a:solidFill>
              <a:latin typeface="Comfortaa"/>
              <a:ea typeface="Comfortaa"/>
              <a:cs typeface="Comfortaa"/>
              <a:sym typeface="Comfortaa"/>
            </a:endParaRPr>
          </a:p>
        </p:txBody>
      </p:sp>
      <p:sp>
        <p:nvSpPr>
          <p:cNvPr id="163" name="Google Shape;163;p19"/>
          <p:cNvSpPr txBox="1"/>
          <p:nvPr/>
        </p:nvSpPr>
        <p:spPr>
          <a:xfrm>
            <a:off x="6899513" y="1899538"/>
            <a:ext cx="22629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100">
                <a:solidFill>
                  <a:srgbClr val="FF0000"/>
                </a:solidFill>
              </a:rPr>
              <a:t>0€ car les étudiants viennent équipés (d’un smartphone ou autre)</a:t>
            </a:r>
            <a:endParaRPr i="1" sz="1100">
              <a:solidFill>
                <a:srgbClr val="FF0000"/>
              </a:solidFill>
            </a:endParaRPr>
          </a:p>
        </p:txBody>
      </p:sp>
      <p:sp>
        <p:nvSpPr>
          <p:cNvPr id="164" name="Google Shape;164;p19"/>
          <p:cNvSpPr txBox="1"/>
          <p:nvPr/>
        </p:nvSpPr>
        <p:spPr>
          <a:xfrm>
            <a:off x="6410000" y="1953013"/>
            <a:ext cx="6537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solidFill>
                  <a:srgbClr val="FF0000"/>
                </a:solidFill>
                <a:latin typeface="Comfortaa"/>
                <a:ea typeface="Comfortaa"/>
                <a:cs typeface="Comfortaa"/>
                <a:sym typeface="Comfortaa"/>
              </a:rPr>
              <a:t>€</a:t>
            </a:r>
            <a:endParaRPr b="1" sz="3100">
              <a:solidFill>
                <a:srgbClr val="FF0000"/>
              </a:solidFill>
              <a:latin typeface="Comfortaa"/>
              <a:ea typeface="Comfortaa"/>
              <a:cs typeface="Comfortaa"/>
              <a:sym typeface="Comfortaa"/>
            </a:endParaRPr>
          </a:p>
        </p:txBody>
      </p:sp>
      <p:sp>
        <p:nvSpPr>
          <p:cNvPr id="165" name="Google Shape;165;p19"/>
          <p:cNvSpPr txBox="1"/>
          <p:nvPr/>
        </p:nvSpPr>
        <p:spPr>
          <a:xfrm>
            <a:off x="721250" y="4427075"/>
            <a:ext cx="6537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solidFill>
                  <a:srgbClr val="FF0000"/>
                </a:solidFill>
                <a:latin typeface="Comfortaa"/>
                <a:ea typeface="Comfortaa"/>
                <a:cs typeface="Comfortaa"/>
                <a:sym typeface="Comfortaa"/>
              </a:rPr>
              <a:t>€</a:t>
            </a:r>
            <a:endParaRPr b="1" sz="3100">
              <a:solidFill>
                <a:srgbClr val="FF0000"/>
              </a:solidFill>
              <a:latin typeface="Comfortaa"/>
              <a:ea typeface="Comfortaa"/>
              <a:cs typeface="Comfortaa"/>
              <a:sym typeface="Comfortaa"/>
            </a:endParaRPr>
          </a:p>
        </p:txBody>
      </p:sp>
      <p:sp>
        <p:nvSpPr>
          <p:cNvPr id="166" name="Google Shape;166;p19"/>
          <p:cNvSpPr txBox="1"/>
          <p:nvPr/>
        </p:nvSpPr>
        <p:spPr>
          <a:xfrm>
            <a:off x="1084752" y="4564025"/>
            <a:ext cx="26433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100">
                <a:solidFill>
                  <a:srgbClr val="FF0000"/>
                </a:solidFill>
              </a:rPr>
              <a:t>0€ si machine de l’enseignant</a:t>
            </a:r>
            <a:endParaRPr i="1" sz="1100">
              <a:solidFill>
                <a:srgbClr val="FF0000"/>
              </a:solidFill>
            </a:endParaRPr>
          </a:p>
          <a:p>
            <a:pPr indent="0" lvl="0" marL="0" rtl="0" algn="l">
              <a:spcBef>
                <a:spcPts val="0"/>
              </a:spcBef>
              <a:spcAft>
                <a:spcPts val="0"/>
              </a:spcAft>
              <a:buNone/>
            </a:pPr>
            <a:r>
              <a:rPr i="1" lang="en" sz="1100">
                <a:solidFill>
                  <a:srgbClr val="FF0000"/>
                </a:solidFill>
              </a:rPr>
              <a:t>1000€ si machine de prêt pré-équipée</a:t>
            </a:r>
            <a:endParaRPr i="1" sz="1100">
              <a:solidFill>
                <a:srgbClr val="FF0000"/>
              </a:solidFill>
            </a:endParaRPr>
          </a:p>
        </p:txBody>
      </p:sp>
      <p:sp>
        <p:nvSpPr>
          <p:cNvPr id="167" name="Google Shape;167;p19"/>
          <p:cNvSpPr txBox="1"/>
          <p:nvPr/>
        </p:nvSpPr>
        <p:spPr>
          <a:xfrm>
            <a:off x="5038527" y="122325"/>
            <a:ext cx="26433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100">
                <a:solidFill>
                  <a:srgbClr val="FF0000"/>
                </a:solidFill>
              </a:rPr>
              <a:t>20€ par mois par service de traduction et selon utilisation</a:t>
            </a:r>
            <a:endParaRPr i="1" sz="1100">
              <a:solidFill>
                <a:srgbClr val="FF0000"/>
              </a:solidFill>
            </a:endParaRPr>
          </a:p>
          <a:p>
            <a:pPr indent="0" lvl="0" marL="0" rtl="0" algn="l">
              <a:spcBef>
                <a:spcPts val="0"/>
              </a:spcBef>
              <a:spcAft>
                <a:spcPts val="0"/>
              </a:spcAft>
              <a:buNone/>
            </a:pPr>
            <a:r>
              <a:rPr i="1" lang="en" sz="1100">
                <a:solidFill>
                  <a:srgbClr val="FF0000"/>
                </a:solidFill>
              </a:rPr>
              <a:t>400€/an si utilisation de Google Translate </a:t>
            </a:r>
            <a:r>
              <a:rPr b="1" i="1" lang="en" sz="1100">
                <a:solidFill>
                  <a:srgbClr val="FF0000"/>
                </a:solidFill>
              </a:rPr>
              <a:t>et</a:t>
            </a:r>
            <a:r>
              <a:rPr i="1" lang="en" sz="1100">
                <a:solidFill>
                  <a:srgbClr val="FF0000"/>
                </a:solidFill>
              </a:rPr>
              <a:t> DeepL traduction</a:t>
            </a:r>
            <a:endParaRPr i="1" sz="1100">
              <a:solidFill>
                <a:srgbClr val="FF0000"/>
              </a:solidFill>
            </a:endParaRPr>
          </a:p>
        </p:txBody>
      </p:sp>
      <p:sp>
        <p:nvSpPr>
          <p:cNvPr id="168" name="Google Shape;168;p19"/>
          <p:cNvSpPr txBox="1"/>
          <p:nvPr/>
        </p:nvSpPr>
        <p:spPr>
          <a:xfrm>
            <a:off x="960975" y="2830975"/>
            <a:ext cx="6537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solidFill>
                  <a:srgbClr val="FF0000"/>
                </a:solidFill>
                <a:latin typeface="Comfortaa"/>
                <a:ea typeface="Comfortaa"/>
                <a:cs typeface="Comfortaa"/>
                <a:sym typeface="Comfortaa"/>
              </a:rPr>
              <a:t>€</a:t>
            </a:r>
            <a:endParaRPr b="1" sz="3100">
              <a:solidFill>
                <a:srgbClr val="FF0000"/>
              </a:solidFill>
              <a:latin typeface="Comfortaa"/>
              <a:ea typeface="Comfortaa"/>
              <a:cs typeface="Comfortaa"/>
              <a:sym typeface="Comfortaa"/>
            </a:endParaRPr>
          </a:p>
        </p:txBody>
      </p:sp>
      <p:sp>
        <p:nvSpPr>
          <p:cNvPr id="169" name="Google Shape;169;p19"/>
          <p:cNvSpPr txBox="1"/>
          <p:nvPr/>
        </p:nvSpPr>
        <p:spPr>
          <a:xfrm>
            <a:off x="1374938" y="2815525"/>
            <a:ext cx="22629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100">
                <a:solidFill>
                  <a:srgbClr val="FF0000"/>
                </a:solidFill>
              </a:rPr>
              <a:t>1</a:t>
            </a:r>
            <a:r>
              <a:rPr i="1" lang="en" sz="1100">
                <a:solidFill>
                  <a:srgbClr val="FF0000"/>
                </a:solidFill>
              </a:rPr>
              <a:t>0-15€ par dispositif émetteur (fabrication via FABLAB?)</a:t>
            </a:r>
            <a:endParaRPr i="1" sz="1100">
              <a:solidFill>
                <a:srgbClr val="FF0000"/>
              </a:solidFill>
            </a:endParaRPr>
          </a:p>
        </p:txBody>
      </p:sp>
      <p:sp>
        <p:nvSpPr>
          <p:cNvPr id="170" name="Google Shape;170;p19"/>
          <p:cNvSpPr txBox="1"/>
          <p:nvPr/>
        </p:nvSpPr>
        <p:spPr>
          <a:xfrm>
            <a:off x="1840800" y="741550"/>
            <a:ext cx="6537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solidFill>
                  <a:srgbClr val="FF0000"/>
                </a:solidFill>
                <a:latin typeface="Comfortaa"/>
                <a:ea typeface="Comfortaa"/>
                <a:cs typeface="Comfortaa"/>
                <a:sym typeface="Comfortaa"/>
              </a:rPr>
              <a:t>€</a:t>
            </a:r>
            <a:endParaRPr b="1" sz="3100">
              <a:solidFill>
                <a:srgbClr val="FF0000"/>
              </a:solidFill>
              <a:latin typeface="Comfortaa"/>
              <a:ea typeface="Comfortaa"/>
              <a:cs typeface="Comfortaa"/>
              <a:sym typeface="Comfortaa"/>
            </a:endParaRPr>
          </a:p>
        </p:txBody>
      </p:sp>
      <p:sp>
        <p:nvSpPr>
          <p:cNvPr id="171" name="Google Shape;171;p19"/>
          <p:cNvSpPr txBox="1"/>
          <p:nvPr/>
        </p:nvSpPr>
        <p:spPr>
          <a:xfrm>
            <a:off x="2254763" y="726100"/>
            <a:ext cx="22629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100">
                <a:solidFill>
                  <a:srgbClr val="FF0000"/>
                </a:solidFill>
              </a:rPr>
              <a:t>5</a:t>
            </a:r>
            <a:r>
              <a:rPr i="1" lang="en" sz="1100">
                <a:solidFill>
                  <a:srgbClr val="FF0000"/>
                </a:solidFill>
              </a:rPr>
              <a:t>-15€ par dispositif récepteur</a:t>
            </a:r>
            <a:endParaRPr i="1" sz="1100">
              <a:solidFill>
                <a:srgbClr val="FF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Utilisation “standard”</a:t>
            </a:r>
            <a:endParaRPr/>
          </a:p>
        </p:txBody>
      </p:sp>
      <p:sp>
        <p:nvSpPr>
          <p:cNvPr id="177" name="Google Shape;177;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78" name="Google Shape;178;p20" title="2021-02-08 15-37-15.mp4">
            <a:hlinkClick r:id="rId3"/>
          </p:cNvPr>
          <p:cNvPicPr preferRelativeResize="0"/>
          <p:nvPr/>
        </p:nvPicPr>
        <p:blipFill>
          <a:blip r:embed="rId4">
            <a:alphaModFix/>
          </a:blip>
          <a:stretch>
            <a:fillRect/>
          </a:stretch>
        </p:blipFill>
        <p:spPr>
          <a:xfrm>
            <a:off x="1750675" y="1152475"/>
            <a:ext cx="5114326" cy="3835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8"/>
                                        </p:tgtEl>
                                        <p:attrNameLst>
                                          <p:attrName>style.visibility</p:attrName>
                                        </p:attrNameLst>
                                      </p:cBhvr>
                                      <p:to>
                                        <p:strVal val="visible"/>
                                      </p:to>
                                    </p:set>
                                    <p:animEffect filter="fade" transition="in">
                                      <p:cBhvr>
                                        <p:cTn dur="1000"/>
                                        <p:tgtEl>
                                          <p:spTgt spid="1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Utilisation avec un discours préparé</a:t>
            </a:r>
            <a:endParaRPr/>
          </a:p>
        </p:txBody>
      </p:sp>
      <p:sp>
        <p:nvSpPr>
          <p:cNvPr id="184" name="Google Shape;184;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85" name="Google Shape;185;p21" title="2021-02-08 15-56-16.mp4">
            <a:hlinkClick r:id="rId3"/>
          </p:cNvPr>
          <p:cNvPicPr preferRelativeResize="0"/>
          <p:nvPr/>
        </p:nvPicPr>
        <p:blipFill>
          <a:blip r:embed="rId4">
            <a:alphaModFix/>
          </a:blip>
          <a:stretch>
            <a:fillRect/>
          </a:stretch>
        </p:blipFill>
        <p:spPr>
          <a:xfrm>
            <a:off x="1750650" y="1146175"/>
            <a:ext cx="5061875" cy="3796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5"/>
                                        </p:tgtEl>
                                        <p:attrNameLst>
                                          <p:attrName>style.visibility</p:attrName>
                                        </p:attrNameLst>
                                      </p:cBhvr>
                                      <p:to>
                                        <p:strVal val="visible"/>
                                      </p:to>
                                    </p:set>
                                    <p:animEffect filter="fade" transition="in">
                                      <p:cBhvr>
                                        <p:cTn dur="1000"/>
                                        <p:tgtEl>
                                          <p:spTgt spid="18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Utilisation de la visioconférence</a:t>
            </a:r>
            <a:endParaRPr/>
          </a:p>
        </p:txBody>
      </p:sp>
      <p:sp>
        <p:nvSpPr>
          <p:cNvPr id="191" name="Google Shape;191;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92" name="Google Shape;192;p22" title="2021-02-08 16-06-24.mp4">
            <a:hlinkClick r:id="rId3"/>
          </p:cNvPr>
          <p:cNvPicPr preferRelativeResize="0"/>
          <p:nvPr/>
        </p:nvPicPr>
        <p:blipFill>
          <a:blip r:embed="rId4">
            <a:alphaModFix/>
          </a:blip>
          <a:stretch>
            <a:fillRect/>
          </a:stretch>
        </p:blipFill>
        <p:spPr>
          <a:xfrm>
            <a:off x="1792650" y="1017725"/>
            <a:ext cx="5124826" cy="3843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2"/>
                                        </p:tgtEl>
                                        <p:attrNameLst>
                                          <p:attrName>style.visibility</p:attrName>
                                        </p:attrNameLst>
                                      </p:cBhvr>
                                      <p:to>
                                        <p:strVal val="visible"/>
                                      </p:to>
                                    </p:set>
                                    <p:animEffect filter="fade" transition="in">
                                      <p:cBhvr>
                                        <p:cTn dur="1000"/>
                                        <p:tgtEl>
                                          <p:spTgt spid="19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3"/>
          <p:cNvSpPr txBox="1"/>
          <p:nvPr>
            <p:ph type="title"/>
          </p:nvPr>
        </p:nvSpPr>
        <p:spPr>
          <a:xfrm>
            <a:off x="311700" y="2926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Création d’animation multilingues à partir des transparents et du discours (étape semi-automatique pour la création)</a:t>
            </a:r>
            <a:endParaRPr/>
          </a:p>
        </p:txBody>
      </p:sp>
      <p:sp>
        <p:nvSpPr>
          <p:cNvPr id="198" name="Google Shape;198;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99" name="Google Shape;199;p23"/>
          <p:cNvPicPr preferRelativeResize="0"/>
          <p:nvPr/>
        </p:nvPicPr>
        <p:blipFill>
          <a:blip r:embed="rId3">
            <a:alphaModFix/>
          </a:blip>
          <a:stretch>
            <a:fillRect/>
          </a:stretch>
        </p:blipFill>
        <p:spPr>
          <a:xfrm>
            <a:off x="190825" y="1284625"/>
            <a:ext cx="3700250" cy="3377226"/>
          </a:xfrm>
          <a:prstGeom prst="rect">
            <a:avLst/>
          </a:prstGeom>
          <a:noFill/>
          <a:ln cap="flat" cmpd="sng" w="9525">
            <a:solidFill>
              <a:schemeClr val="dk2"/>
            </a:solidFill>
            <a:prstDash val="solid"/>
            <a:round/>
            <a:headEnd len="sm" w="sm" type="none"/>
            <a:tailEnd len="sm" w="sm" type="none"/>
          </a:ln>
        </p:spPr>
      </p:pic>
      <p:pic>
        <p:nvPicPr>
          <p:cNvPr id="200" name="Google Shape;200;p23"/>
          <p:cNvPicPr preferRelativeResize="0"/>
          <p:nvPr/>
        </p:nvPicPr>
        <p:blipFill>
          <a:blip r:embed="rId4">
            <a:alphaModFix/>
          </a:blip>
          <a:stretch>
            <a:fillRect/>
          </a:stretch>
        </p:blipFill>
        <p:spPr>
          <a:xfrm>
            <a:off x="3994168" y="1583850"/>
            <a:ext cx="4971731" cy="3416399"/>
          </a:xfrm>
          <a:prstGeom prst="rect">
            <a:avLst/>
          </a:prstGeom>
          <a:noFill/>
          <a:ln cap="flat" cmpd="sng" w="9525">
            <a:solidFill>
              <a:schemeClr val="dk2"/>
            </a:solidFill>
            <a:prstDash val="solid"/>
            <a:round/>
            <a:headEnd len="sm" w="sm" type="none"/>
            <a:tailEnd len="sm" w="sm" type="none"/>
          </a:ln>
        </p:spPr>
      </p:pic>
      <p:sp>
        <p:nvSpPr>
          <p:cNvPr id="201" name="Google Shape;201;p23"/>
          <p:cNvSpPr txBox="1"/>
          <p:nvPr/>
        </p:nvSpPr>
        <p:spPr>
          <a:xfrm>
            <a:off x="102175" y="81450"/>
            <a:ext cx="1975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rgbClr val="FF0000"/>
              </a:solidFill>
            </a:endParaRPr>
          </a:p>
        </p:txBody>
      </p:sp>
      <p:sp>
        <p:nvSpPr>
          <p:cNvPr id="202" name="Google Shape;202;p23"/>
          <p:cNvSpPr txBox="1"/>
          <p:nvPr/>
        </p:nvSpPr>
        <p:spPr>
          <a:xfrm>
            <a:off x="366575" y="4709625"/>
            <a:ext cx="3024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À tester </a:t>
            </a:r>
            <a:r>
              <a:rPr lang="en" u="sng">
                <a:solidFill>
                  <a:schemeClr val="hlink"/>
                </a:solidFill>
                <a:hlinkClick r:id="rId5"/>
              </a:rPr>
              <a:t>ici</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4"/>
          <p:cNvSpPr txBox="1"/>
          <p:nvPr>
            <p:ph type="title"/>
          </p:nvPr>
        </p:nvSpPr>
        <p:spPr>
          <a:xfrm>
            <a:off x="311700" y="2926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Traduction automatique des supports de cours (pptx)</a:t>
            </a:r>
            <a:endParaRPr/>
          </a:p>
        </p:txBody>
      </p:sp>
      <p:sp>
        <p:nvSpPr>
          <p:cNvPr id="208" name="Google Shape;208;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209" name="Google Shape;209;p24"/>
          <p:cNvSpPr txBox="1"/>
          <p:nvPr/>
        </p:nvSpPr>
        <p:spPr>
          <a:xfrm>
            <a:off x="102175" y="81450"/>
            <a:ext cx="1975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rgbClr val="FF0000"/>
              </a:solidFill>
            </a:endParaRPr>
          </a:p>
        </p:txBody>
      </p:sp>
      <p:pic>
        <p:nvPicPr>
          <p:cNvPr id="210" name="Google Shape;210;p24"/>
          <p:cNvPicPr preferRelativeResize="0"/>
          <p:nvPr/>
        </p:nvPicPr>
        <p:blipFill>
          <a:blip r:embed="rId3">
            <a:alphaModFix/>
          </a:blip>
          <a:stretch>
            <a:fillRect/>
          </a:stretch>
        </p:blipFill>
        <p:spPr>
          <a:xfrm>
            <a:off x="311700" y="1825925"/>
            <a:ext cx="3885651" cy="1881950"/>
          </a:xfrm>
          <a:prstGeom prst="rect">
            <a:avLst/>
          </a:prstGeom>
          <a:noFill/>
          <a:ln cap="flat" cmpd="sng" w="9525">
            <a:solidFill>
              <a:schemeClr val="dk2"/>
            </a:solidFill>
            <a:prstDash val="solid"/>
            <a:round/>
            <a:headEnd len="sm" w="sm" type="none"/>
            <a:tailEnd len="sm" w="sm" type="none"/>
          </a:ln>
        </p:spPr>
      </p:pic>
      <p:pic>
        <p:nvPicPr>
          <p:cNvPr id="211" name="Google Shape;211;p24"/>
          <p:cNvPicPr preferRelativeResize="0"/>
          <p:nvPr/>
        </p:nvPicPr>
        <p:blipFill>
          <a:blip r:embed="rId4">
            <a:alphaModFix/>
          </a:blip>
          <a:stretch>
            <a:fillRect/>
          </a:stretch>
        </p:blipFill>
        <p:spPr>
          <a:xfrm>
            <a:off x="4749024" y="737575"/>
            <a:ext cx="4196475" cy="2047800"/>
          </a:xfrm>
          <a:prstGeom prst="rect">
            <a:avLst/>
          </a:prstGeom>
          <a:noFill/>
          <a:ln cap="flat" cmpd="sng" w="9525">
            <a:solidFill>
              <a:schemeClr val="dk2"/>
            </a:solidFill>
            <a:prstDash val="solid"/>
            <a:round/>
            <a:headEnd len="sm" w="sm" type="none"/>
            <a:tailEnd len="sm" w="sm" type="none"/>
          </a:ln>
        </p:spPr>
      </p:pic>
      <p:pic>
        <p:nvPicPr>
          <p:cNvPr id="212" name="Google Shape;212;p24"/>
          <p:cNvPicPr preferRelativeResize="0"/>
          <p:nvPr/>
        </p:nvPicPr>
        <p:blipFill>
          <a:blip r:embed="rId5">
            <a:alphaModFix/>
          </a:blip>
          <a:stretch>
            <a:fillRect/>
          </a:stretch>
        </p:blipFill>
        <p:spPr>
          <a:xfrm>
            <a:off x="4572007" y="2235575"/>
            <a:ext cx="4339088" cy="2047800"/>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5"/>
          <p:cNvSpPr txBox="1"/>
          <p:nvPr>
            <p:ph type="title"/>
          </p:nvPr>
        </p:nvSpPr>
        <p:spPr>
          <a:xfrm>
            <a:off x="311700" y="216425"/>
            <a:ext cx="86031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L’outil de génération des animations (sous Mac OS X)</a:t>
            </a:r>
            <a:endParaRPr/>
          </a:p>
        </p:txBody>
      </p:sp>
      <p:pic>
        <p:nvPicPr>
          <p:cNvPr id="218" name="Google Shape;218;p25"/>
          <p:cNvPicPr preferRelativeResize="0"/>
          <p:nvPr/>
        </p:nvPicPr>
        <p:blipFill>
          <a:blip r:embed="rId3">
            <a:alphaModFix/>
          </a:blip>
          <a:stretch>
            <a:fillRect/>
          </a:stretch>
        </p:blipFill>
        <p:spPr>
          <a:xfrm>
            <a:off x="997401" y="1089601"/>
            <a:ext cx="5331074" cy="3791475"/>
          </a:xfrm>
          <a:prstGeom prst="rect">
            <a:avLst/>
          </a:prstGeom>
          <a:noFill/>
          <a:ln cap="flat" cmpd="sng" w="19050">
            <a:solidFill>
              <a:schemeClr val="dk2"/>
            </a:solidFill>
            <a:prstDash val="solid"/>
            <a:round/>
            <a:headEnd len="sm" w="sm" type="none"/>
            <a:tailEnd len="sm" w="sm" type="none"/>
          </a:ln>
        </p:spPr>
      </p:pic>
      <p:sp>
        <p:nvSpPr>
          <p:cNvPr id="219" name="Google Shape;219;p25"/>
          <p:cNvSpPr/>
          <p:nvPr/>
        </p:nvSpPr>
        <p:spPr>
          <a:xfrm>
            <a:off x="311700" y="878650"/>
            <a:ext cx="1929300" cy="355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Langue du discours</a:t>
            </a:r>
            <a:endParaRPr/>
          </a:p>
        </p:txBody>
      </p:sp>
      <p:cxnSp>
        <p:nvCxnSpPr>
          <p:cNvPr id="220" name="Google Shape;220;p25"/>
          <p:cNvCxnSpPr/>
          <p:nvPr/>
        </p:nvCxnSpPr>
        <p:spPr>
          <a:xfrm flipH="1">
            <a:off x="5854325" y="1619075"/>
            <a:ext cx="849000" cy="217200"/>
          </a:xfrm>
          <a:prstGeom prst="straightConnector1">
            <a:avLst/>
          </a:prstGeom>
          <a:noFill/>
          <a:ln cap="flat" cmpd="sng" w="28575">
            <a:solidFill>
              <a:schemeClr val="dk2"/>
            </a:solidFill>
            <a:prstDash val="solid"/>
            <a:round/>
            <a:headEnd len="med" w="med" type="none"/>
            <a:tailEnd len="med" w="med" type="triangle"/>
          </a:ln>
        </p:spPr>
      </p:cxnSp>
      <p:sp>
        <p:nvSpPr>
          <p:cNvPr id="221" name="Google Shape;221;p25"/>
          <p:cNvSpPr/>
          <p:nvPr/>
        </p:nvSpPr>
        <p:spPr>
          <a:xfrm>
            <a:off x="6535600" y="1248850"/>
            <a:ext cx="2296800" cy="824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Langues de traduction du discours qui seront intégrées à l’animation/vidéo</a:t>
            </a:r>
            <a:endParaRPr/>
          </a:p>
        </p:txBody>
      </p:sp>
      <p:cxnSp>
        <p:nvCxnSpPr>
          <p:cNvPr id="222" name="Google Shape;222;p25"/>
          <p:cNvCxnSpPr/>
          <p:nvPr/>
        </p:nvCxnSpPr>
        <p:spPr>
          <a:xfrm>
            <a:off x="1583875" y="1234150"/>
            <a:ext cx="193200" cy="404700"/>
          </a:xfrm>
          <a:prstGeom prst="straightConnector1">
            <a:avLst/>
          </a:prstGeom>
          <a:noFill/>
          <a:ln cap="flat" cmpd="sng" w="28575">
            <a:solidFill>
              <a:schemeClr val="dk2"/>
            </a:solidFill>
            <a:prstDash val="solid"/>
            <a:round/>
            <a:headEnd len="med" w="med" type="none"/>
            <a:tailEnd len="med" w="med" type="triangle"/>
          </a:ln>
        </p:spPr>
      </p:cxnSp>
      <p:cxnSp>
        <p:nvCxnSpPr>
          <p:cNvPr id="223" name="Google Shape;223;p25"/>
          <p:cNvCxnSpPr/>
          <p:nvPr/>
        </p:nvCxnSpPr>
        <p:spPr>
          <a:xfrm rot="10800000">
            <a:off x="3523350" y="2969400"/>
            <a:ext cx="1669500" cy="140400"/>
          </a:xfrm>
          <a:prstGeom prst="straightConnector1">
            <a:avLst/>
          </a:prstGeom>
          <a:noFill/>
          <a:ln cap="flat" cmpd="sng" w="28575">
            <a:solidFill>
              <a:schemeClr val="dk2"/>
            </a:solidFill>
            <a:prstDash val="solid"/>
            <a:round/>
            <a:headEnd len="med" w="med" type="none"/>
            <a:tailEnd len="med" w="med" type="triangle"/>
          </a:ln>
        </p:spPr>
      </p:cxnSp>
      <p:sp>
        <p:nvSpPr>
          <p:cNvPr id="224" name="Google Shape;224;p25"/>
          <p:cNvSpPr/>
          <p:nvPr/>
        </p:nvSpPr>
        <p:spPr>
          <a:xfrm>
            <a:off x="5192850" y="2916675"/>
            <a:ext cx="1929300" cy="355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Présentation</a:t>
            </a:r>
            <a:endParaRPr/>
          </a:p>
        </p:txBody>
      </p:sp>
      <p:cxnSp>
        <p:nvCxnSpPr>
          <p:cNvPr id="225" name="Google Shape;225;p25"/>
          <p:cNvCxnSpPr/>
          <p:nvPr/>
        </p:nvCxnSpPr>
        <p:spPr>
          <a:xfrm rot="10800000">
            <a:off x="3523350" y="3566050"/>
            <a:ext cx="1669500" cy="140400"/>
          </a:xfrm>
          <a:prstGeom prst="straightConnector1">
            <a:avLst/>
          </a:prstGeom>
          <a:noFill/>
          <a:ln cap="flat" cmpd="sng" w="28575">
            <a:solidFill>
              <a:schemeClr val="dk2"/>
            </a:solidFill>
            <a:prstDash val="solid"/>
            <a:round/>
            <a:headEnd len="med" w="med" type="none"/>
            <a:tailEnd len="med" w="med" type="triangle"/>
          </a:ln>
        </p:spPr>
      </p:cxnSp>
      <p:sp>
        <p:nvSpPr>
          <p:cNvPr id="226" name="Google Shape;226;p25"/>
          <p:cNvSpPr/>
          <p:nvPr/>
        </p:nvSpPr>
        <p:spPr>
          <a:xfrm>
            <a:off x="5192850" y="3513325"/>
            <a:ext cx="2912400" cy="702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Langue s’il faut aussi traduire les slides (traduction de tout le texte qui se trouve dans les slides)</a:t>
            </a:r>
            <a:endParaRPr/>
          </a:p>
        </p:txBody>
      </p:sp>
      <p:sp>
        <p:nvSpPr>
          <p:cNvPr id="227" name="Google Shape;227;p25"/>
          <p:cNvSpPr/>
          <p:nvPr/>
        </p:nvSpPr>
        <p:spPr>
          <a:xfrm>
            <a:off x="4580775" y="4363575"/>
            <a:ext cx="1115700" cy="306000"/>
          </a:xfrm>
          <a:prstGeom prst="roundRect">
            <a:avLst>
              <a:gd fmla="val 16667" name="adj"/>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pic>
        <p:nvPicPr>
          <p:cNvPr id="232" name="Google Shape;232;p26"/>
          <p:cNvPicPr preferRelativeResize="0"/>
          <p:nvPr/>
        </p:nvPicPr>
        <p:blipFill>
          <a:blip r:embed="rId3">
            <a:alphaModFix/>
          </a:blip>
          <a:stretch>
            <a:fillRect/>
          </a:stretch>
        </p:blipFill>
        <p:spPr>
          <a:xfrm>
            <a:off x="510661" y="1070049"/>
            <a:ext cx="7172465" cy="3442375"/>
          </a:xfrm>
          <a:prstGeom prst="rect">
            <a:avLst/>
          </a:prstGeom>
          <a:noFill/>
          <a:ln>
            <a:noFill/>
          </a:ln>
        </p:spPr>
      </p:pic>
      <p:sp>
        <p:nvSpPr>
          <p:cNvPr id="233" name="Google Shape;233;p26"/>
          <p:cNvSpPr txBox="1"/>
          <p:nvPr>
            <p:ph type="title"/>
          </p:nvPr>
        </p:nvSpPr>
        <p:spPr>
          <a:xfrm>
            <a:off x="311700" y="216425"/>
            <a:ext cx="86031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L’outil de traduction des slides (Multiplateforme)</a:t>
            </a:r>
            <a:endParaRPr/>
          </a:p>
        </p:txBody>
      </p:sp>
      <p:sp>
        <p:nvSpPr>
          <p:cNvPr id="234" name="Google Shape;234;p26"/>
          <p:cNvSpPr/>
          <p:nvPr/>
        </p:nvSpPr>
        <p:spPr>
          <a:xfrm>
            <a:off x="311700" y="1183450"/>
            <a:ext cx="1929300" cy="355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Langue des slides</a:t>
            </a:r>
            <a:endParaRPr/>
          </a:p>
        </p:txBody>
      </p:sp>
      <p:cxnSp>
        <p:nvCxnSpPr>
          <p:cNvPr id="235" name="Google Shape;235;p26"/>
          <p:cNvCxnSpPr/>
          <p:nvPr/>
        </p:nvCxnSpPr>
        <p:spPr>
          <a:xfrm flipH="1">
            <a:off x="5884025" y="1619075"/>
            <a:ext cx="819300" cy="582300"/>
          </a:xfrm>
          <a:prstGeom prst="straightConnector1">
            <a:avLst/>
          </a:prstGeom>
          <a:noFill/>
          <a:ln cap="flat" cmpd="sng" w="28575">
            <a:solidFill>
              <a:schemeClr val="dk2"/>
            </a:solidFill>
            <a:prstDash val="solid"/>
            <a:round/>
            <a:headEnd len="med" w="med" type="none"/>
            <a:tailEnd len="med" w="med" type="triangle"/>
          </a:ln>
        </p:spPr>
      </p:cxnSp>
      <p:sp>
        <p:nvSpPr>
          <p:cNvPr id="236" name="Google Shape;236;p26"/>
          <p:cNvSpPr/>
          <p:nvPr/>
        </p:nvSpPr>
        <p:spPr>
          <a:xfrm>
            <a:off x="6535600" y="1248850"/>
            <a:ext cx="2296800" cy="824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Langues de traduction des slides</a:t>
            </a:r>
            <a:endParaRPr/>
          </a:p>
        </p:txBody>
      </p:sp>
      <p:cxnSp>
        <p:nvCxnSpPr>
          <p:cNvPr id="237" name="Google Shape;237;p26"/>
          <p:cNvCxnSpPr/>
          <p:nvPr/>
        </p:nvCxnSpPr>
        <p:spPr>
          <a:xfrm>
            <a:off x="1583875" y="1538950"/>
            <a:ext cx="201600" cy="490200"/>
          </a:xfrm>
          <a:prstGeom prst="straightConnector1">
            <a:avLst/>
          </a:prstGeom>
          <a:noFill/>
          <a:ln cap="flat" cmpd="sng" w="28575">
            <a:solidFill>
              <a:schemeClr val="dk2"/>
            </a:solidFill>
            <a:prstDash val="solid"/>
            <a:round/>
            <a:headEnd len="med" w="med" type="none"/>
            <a:tailEnd len="med" w="med" type="triangle"/>
          </a:ln>
        </p:spPr>
      </p:cxnSp>
      <p:cxnSp>
        <p:nvCxnSpPr>
          <p:cNvPr id="238" name="Google Shape;238;p26"/>
          <p:cNvCxnSpPr>
            <a:stCxn id="239" idx="1"/>
          </p:cNvCxnSpPr>
          <p:nvPr/>
        </p:nvCxnSpPr>
        <p:spPr>
          <a:xfrm flipH="1">
            <a:off x="3523275" y="3354600"/>
            <a:ext cx="2734800" cy="605400"/>
          </a:xfrm>
          <a:prstGeom prst="straightConnector1">
            <a:avLst/>
          </a:prstGeom>
          <a:noFill/>
          <a:ln cap="flat" cmpd="sng" w="28575">
            <a:solidFill>
              <a:schemeClr val="dk2"/>
            </a:solidFill>
            <a:prstDash val="solid"/>
            <a:round/>
            <a:headEnd len="med" w="med" type="none"/>
            <a:tailEnd len="med" w="med" type="triangle"/>
          </a:ln>
        </p:spPr>
      </p:cxnSp>
      <p:sp>
        <p:nvSpPr>
          <p:cNvPr id="239" name="Google Shape;239;p26"/>
          <p:cNvSpPr/>
          <p:nvPr/>
        </p:nvSpPr>
        <p:spPr>
          <a:xfrm>
            <a:off x="6258075" y="3176850"/>
            <a:ext cx="1929300" cy="355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Présentation</a:t>
            </a:r>
            <a:endParaRPr/>
          </a:p>
        </p:txBody>
      </p:sp>
      <p:sp>
        <p:nvSpPr>
          <p:cNvPr id="240" name="Google Shape;240;p26"/>
          <p:cNvSpPr/>
          <p:nvPr/>
        </p:nvSpPr>
        <p:spPr>
          <a:xfrm>
            <a:off x="6061950" y="4079525"/>
            <a:ext cx="1115700" cy="306000"/>
          </a:xfrm>
          <a:prstGeom prst="roundRect">
            <a:avLst>
              <a:gd fmla="val 16667" name="adj"/>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7"/>
          <p:cNvSpPr txBox="1"/>
          <p:nvPr>
            <p:ph type="title"/>
          </p:nvPr>
        </p:nvSpPr>
        <p:spPr>
          <a:xfrm>
            <a:off x="311700" y="216425"/>
            <a:ext cx="86031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Les OMIST Tools</a:t>
            </a:r>
            <a:endParaRPr/>
          </a:p>
        </p:txBody>
      </p:sp>
      <p:pic>
        <p:nvPicPr>
          <p:cNvPr id="246" name="Google Shape;246;p27"/>
          <p:cNvPicPr preferRelativeResize="0"/>
          <p:nvPr/>
        </p:nvPicPr>
        <p:blipFill>
          <a:blip r:embed="rId3">
            <a:alphaModFix/>
          </a:blip>
          <a:stretch>
            <a:fillRect/>
          </a:stretch>
        </p:blipFill>
        <p:spPr>
          <a:xfrm>
            <a:off x="842637" y="1028652"/>
            <a:ext cx="7541224" cy="3086200"/>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